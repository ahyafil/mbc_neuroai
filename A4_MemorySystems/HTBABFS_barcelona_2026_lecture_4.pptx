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402" r:id="rId3"/>
    <p:sldId id="403" r:id="rId4"/>
    <p:sldId id="404" r:id="rId5"/>
    <p:sldId id="405" r:id="rId6"/>
    <p:sldId id="503" r:id="rId7"/>
    <p:sldId id="406" r:id="rId8"/>
    <p:sldId id="502" r:id="rId9"/>
    <p:sldId id="420" r:id="rId10"/>
    <p:sldId id="421" r:id="rId11"/>
    <p:sldId id="413" r:id="rId12"/>
    <p:sldId id="505" r:id="rId13"/>
    <p:sldId id="504" r:id="rId14"/>
    <p:sldId id="506" r:id="rId15"/>
    <p:sldId id="507" r:id="rId16"/>
    <p:sldId id="412" r:id="rId17"/>
    <p:sldId id="508" r:id="rId18"/>
    <p:sldId id="407" r:id="rId19"/>
    <p:sldId id="417" r:id="rId20"/>
    <p:sldId id="415" r:id="rId21"/>
    <p:sldId id="416" r:id="rId22"/>
    <p:sldId id="422" r:id="rId23"/>
    <p:sldId id="419" r:id="rId24"/>
    <p:sldId id="418" r:id="rId25"/>
    <p:sldId id="45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8" autoAdjust="0"/>
    <p:restoredTop sz="96405" autoAdjust="0"/>
  </p:normalViewPr>
  <p:slideViewPr>
    <p:cSldViewPr snapToGrid="0" snapToObjects="1">
      <p:cViewPr varScale="1">
        <p:scale>
          <a:sx n="127" d="100"/>
          <a:sy n="127" d="100"/>
        </p:scale>
        <p:origin x="3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707D0-E335-2D4F-8613-6534A8DB83F0}" type="datetimeFigureOut"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209B6-D614-C54E-8F18-17DC541A61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19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209B6-D614-C54E-8F18-17DC541A61AB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17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E39D5-A47E-7A4D-B399-C5BE059003B7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91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3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4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5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40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1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71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53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83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1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8D467-7A5A-1440-9620-9FA8F48A9B55}" type="datetimeFigureOut"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8F452-61D8-0B46-BBC5-CCD32E00DF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4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654" y="1895727"/>
            <a:ext cx="7772400" cy="1470025"/>
          </a:xfrm>
        </p:spPr>
        <p:txBody>
          <a:bodyPr>
            <a:noAutofit/>
          </a:bodyPr>
          <a:lstStyle/>
          <a:p>
            <a:r>
              <a:rPr lang="en-US" dirty="0"/>
              <a:t>How to build a brain from scratch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6917" y="3665308"/>
            <a:ext cx="7238454" cy="1752600"/>
          </a:xfrm>
        </p:spPr>
        <p:txBody>
          <a:bodyPr/>
          <a:lstStyle/>
          <a:p>
            <a:r>
              <a:rPr lang="en-US" dirty="0"/>
              <a:t>Lecture 4:</a:t>
            </a:r>
          </a:p>
          <a:p>
            <a:r>
              <a:rPr lang="en-US" dirty="0"/>
              <a:t>Computation and memory systems</a:t>
            </a:r>
          </a:p>
        </p:txBody>
      </p:sp>
    </p:spTree>
    <p:extLst>
      <p:ext uri="{BB962C8B-B14F-4D97-AF65-F5344CB8AC3E}">
        <p14:creationId xmlns:p14="http://schemas.microsoft.com/office/powerpoint/2010/main" val="8090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3600">
              <a:latin typeface="Calibri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788511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GB" sz="3600" dirty="0">
                <a:latin typeface="Calibri" charset="0"/>
              </a:rPr>
              <a:t>Same/different task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65F33A0-00AD-6948-83F5-48C64819F58F}"/>
              </a:ext>
            </a:extLst>
          </p:cNvPr>
          <p:cNvSpPr/>
          <p:nvPr/>
        </p:nvSpPr>
        <p:spPr>
          <a:xfrm>
            <a:off x="489198" y="1423481"/>
            <a:ext cx="8131059" cy="3148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4" descr="Image result for cat image">
            <a:extLst>
              <a:ext uri="{FF2B5EF4-FFF2-40B4-BE49-F238E27FC236}">
                <a16:creationId xmlns:a16="http://schemas.microsoft.com/office/drawing/2014/main" id="{5B32C18D-F81D-A244-8FEA-3C5FB2E2F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68" y="1716449"/>
            <a:ext cx="2184130" cy="145056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Image result for dog image">
            <a:extLst>
              <a:ext uri="{FF2B5EF4-FFF2-40B4-BE49-F238E27FC236}">
                <a16:creationId xmlns:a16="http://schemas.microsoft.com/office/drawing/2014/main" id="{810FFF3A-DB60-4546-9849-7AE71470B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983" y="1916222"/>
            <a:ext cx="2048284" cy="148587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B42D58-D25C-624C-A65E-4237D6C1F0A8}"/>
              </a:ext>
            </a:extLst>
          </p:cNvPr>
          <p:cNvSpPr txBox="1"/>
          <p:nvPr/>
        </p:nvSpPr>
        <p:spPr>
          <a:xfrm>
            <a:off x="1961335" y="3417203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3276DB-90AB-B640-A617-DCDAA3AA3792}"/>
              </a:ext>
            </a:extLst>
          </p:cNvPr>
          <p:cNvSpPr txBox="1"/>
          <p:nvPr/>
        </p:nvSpPr>
        <p:spPr>
          <a:xfrm>
            <a:off x="3139373" y="3601863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B6ABB1-DF7E-2742-9A3F-35CA229CADB1}"/>
              </a:ext>
            </a:extLst>
          </p:cNvPr>
          <p:cNvSpPr txBox="1"/>
          <p:nvPr/>
        </p:nvSpPr>
        <p:spPr>
          <a:xfrm>
            <a:off x="4609024" y="386338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E48199-7C9B-7C4E-B65B-E097B1DEB5B0}"/>
              </a:ext>
            </a:extLst>
          </p:cNvPr>
          <p:cNvSpPr txBox="1"/>
          <p:nvPr/>
        </p:nvSpPr>
        <p:spPr>
          <a:xfrm>
            <a:off x="5811005" y="4107309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C4B860-6380-8744-8BA8-767E436A66D9}"/>
              </a:ext>
            </a:extLst>
          </p:cNvPr>
          <p:cNvSpPr txBox="1"/>
          <p:nvPr/>
        </p:nvSpPr>
        <p:spPr>
          <a:xfrm>
            <a:off x="5532432" y="1393002"/>
            <a:ext cx="2674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 set (n=2)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E6D9DD-509B-664A-A4B5-B36BC64BB423}"/>
              </a:ext>
            </a:extLst>
          </p:cNvPr>
          <p:cNvSpPr/>
          <p:nvPr/>
        </p:nvSpPr>
        <p:spPr>
          <a:xfrm>
            <a:off x="716167" y="4864968"/>
            <a:ext cx="790465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cs typeface="Times New Roman"/>
              </a:rPr>
              <a:t>A feedforward neural network would perform at chance at this simple task, because it has no means to remember what occurred on the last timestep</a:t>
            </a:r>
            <a:endParaRPr lang="en-US" sz="2800" dirty="0">
              <a:solidFill>
                <a:schemeClr val="accent1"/>
              </a:solidFill>
              <a:cs typeface="Times New Roman"/>
            </a:endParaRPr>
          </a:p>
        </p:txBody>
      </p:sp>
      <p:pic>
        <p:nvPicPr>
          <p:cNvPr id="27" name="Picture 4" descr="Image result for cat image">
            <a:extLst>
              <a:ext uri="{FF2B5EF4-FFF2-40B4-BE49-F238E27FC236}">
                <a16:creationId xmlns:a16="http://schemas.microsoft.com/office/drawing/2014/main" id="{2FECECB5-4274-6143-98C0-9E9508F6C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494" y="2134427"/>
            <a:ext cx="2184130" cy="145056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Image result for cat image">
            <a:extLst>
              <a:ext uri="{FF2B5EF4-FFF2-40B4-BE49-F238E27FC236}">
                <a16:creationId xmlns:a16="http://schemas.microsoft.com/office/drawing/2014/main" id="{386B6BCC-EE1E-6D4F-A36D-EFBB76640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184" y="2432352"/>
            <a:ext cx="2184130" cy="145056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Image result for dog image">
            <a:extLst>
              <a:ext uri="{FF2B5EF4-FFF2-40B4-BE49-F238E27FC236}">
                <a16:creationId xmlns:a16="http://schemas.microsoft.com/office/drawing/2014/main" id="{F71A784B-FED9-CD41-AE76-E24F85D35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223" y="2608739"/>
            <a:ext cx="2048284" cy="148587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94F0A46-368A-194A-8E14-873FE7E66B97}"/>
              </a:ext>
            </a:extLst>
          </p:cNvPr>
          <p:cNvSpPr txBox="1"/>
          <p:nvPr/>
        </p:nvSpPr>
        <p:spPr>
          <a:xfrm>
            <a:off x="703811" y="3157632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</a:t>
            </a:r>
          </a:p>
        </p:txBody>
      </p:sp>
    </p:spTree>
    <p:extLst>
      <p:ext uri="{BB962C8B-B14F-4D97-AF65-F5344CB8AC3E}">
        <p14:creationId xmlns:p14="http://schemas.microsoft.com/office/powerpoint/2010/main" val="121001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851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Optimal perceptual decisions &amp; the SPRT</a:t>
            </a:r>
          </a:p>
        </p:txBody>
      </p:sp>
      <p:sp>
        <p:nvSpPr>
          <p:cNvPr id="35844" name="Text Box 11">
            <a:extLst>
              <a:ext uri="{FF2B5EF4-FFF2-40B4-BE49-F238E27FC236}">
                <a16:creationId xmlns:a16="http://schemas.microsoft.com/office/drawing/2014/main" id="{F45D0E51-506E-584B-A88D-11CD2C5FB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978" y="6515532"/>
            <a:ext cx="36242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>
                <a:latin typeface="Calibri" panose="020F0502020204030204" pitchFamily="34" charset="0"/>
              </a:rPr>
              <a:t>Wald &amp; </a:t>
            </a:r>
            <a:r>
              <a:rPr lang="en-GB" altLang="en-US" sz="1800" dirty="0" err="1">
                <a:latin typeface="Calibri" panose="020F0502020204030204" pitchFamily="34" charset="0"/>
              </a:rPr>
              <a:t>Wolfwitz</a:t>
            </a:r>
            <a:r>
              <a:rPr lang="en-GB" altLang="en-US" sz="1800" dirty="0">
                <a:latin typeface="Calibri" panose="020F0502020204030204" pitchFamily="34" charset="0"/>
              </a:rPr>
              <a:t>, 1946; </a:t>
            </a:r>
            <a:r>
              <a:rPr lang="en-GB" altLang="en-US" sz="1800" dirty="0" err="1">
                <a:latin typeface="Calibri" panose="020F0502020204030204" pitchFamily="34" charset="0"/>
              </a:rPr>
              <a:t>Bogacz</a:t>
            </a:r>
            <a:r>
              <a:rPr lang="en-GB" altLang="en-US" sz="1800" dirty="0">
                <a:latin typeface="Calibri" panose="020F0502020204030204" pitchFamily="34" charset="0"/>
              </a:rPr>
              <a:t> 2006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E23960D-8F9A-7E46-994E-61DA0BC2CE0C}"/>
              </a:ext>
            </a:extLst>
          </p:cNvPr>
          <p:cNvGrpSpPr/>
          <p:nvPr/>
        </p:nvGrpSpPr>
        <p:grpSpPr>
          <a:xfrm>
            <a:off x="466928" y="1197279"/>
            <a:ext cx="3929974" cy="2713241"/>
            <a:chOff x="271462" y="1238589"/>
            <a:chExt cx="4300538" cy="3048000"/>
          </a:xfrm>
        </p:grpSpPr>
        <p:pic>
          <p:nvPicPr>
            <p:cNvPr id="30" name="Picture 18" descr="Screen shot 2012-10-03 at 09.48.59.png">
              <a:extLst>
                <a:ext uri="{FF2B5EF4-FFF2-40B4-BE49-F238E27FC236}">
                  <a16:creationId xmlns:a16="http://schemas.microsoft.com/office/drawing/2014/main" id="{9E651A07-93A8-B846-B6C1-8D12F5CE0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462" y="1238589"/>
              <a:ext cx="4300538" cy="304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276333A-2E49-0B45-BD03-59F8F4ED5E9E}"/>
                </a:ext>
              </a:extLst>
            </p:cNvPr>
            <p:cNvSpPr/>
            <p:nvPr/>
          </p:nvSpPr>
          <p:spPr>
            <a:xfrm>
              <a:off x="556425" y="1418191"/>
              <a:ext cx="293019" cy="4098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 Box 17">
            <a:extLst>
              <a:ext uri="{FF2B5EF4-FFF2-40B4-BE49-F238E27FC236}">
                <a16:creationId xmlns:a16="http://schemas.microsoft.com/office/drawing/2014/main" id="{8E817B05-E29C-1C45-AF0E-B60D191FE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9321" y="1416967"/>
            <a:ext cx="396888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In a standard psychophysical task, observers judge the motion direction in a stream of randomly moving dots</a:t>
            </a:r>
            <a:endParaRPr lang="en-US" altLang="en-US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0AE17A-96C3-5A47-A19B-935D18BC7F77}"/>
              </a:ext>
            </a:extLst>
          </p:cNvPr>
          <p:cNvSpPr txBox="1"/>
          <p:nvPr/>
        </p:nvSpPr>
        <p:spPr>
          <a:xfrm>
            <a:off x="4207534" y="3081557"/>
            <a:ext cx="22611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0" dirty="0">
                <a:solidFill>
                  <a:schemeClr val="bg1">
                    <a:lumMod val="50000"/>
                  </a:schemeClr>
                </a:solidFill>
              </a:rPr>
              <a:t>solution is to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compute the (log) likelihood ratio:</a:t>
            </a:r>
            <a:endParaRPr lang="en-GB" sz="1600" b="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C01AA7F-01DA-2D44-90EC-8B32F404387C}"/>
                  </a:ext>
                </a:extLst>
              </p:cNvPr>
              <p:cNvSpPr txBox="1"/>
              <p:nvPr/>
            </p:nvSpPr>
            <p:spPr>
              <a:xfrm>
                <a:off x="464530" y="4661996"/>
                <a:ext cx="6474593" cy="5922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d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d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dirty="0"/>
                  <a:t>+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…+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d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C01AA7F-01DA-2D44-90EC-8B32F4043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30" y="4661996"/>
                <a:ext cx="6474593" cy="592213"/>
              </a:xfrm>
              <a:prstGeom prst="rect">
                <a:avLst/>
              </a:prstGeom>
              <a:blipFill>
                <a:blip r:embed="rId4"/>
                <a:stretch>
                  <a:fillRect l="-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CF16084-CFC1-F54A-AF18-33FD7E21A99B}"/>
                  </a:ext>
                </a:extLst>
              </p:cNvPr>
              <p:cNvSpPr/>
              <p:nvPr/>
            </p:nvSpPr>
            <p:spPr>
              <a:xfrm>
                <a:off x="6369185" y="3033543"/>
                <a:ext cx="2684196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GB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CF16084-CFC1-F54A-AF18-33FD7E21A9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185" y="3033543"/>
                <a:ext cx="2684196" cy="669094"/>
              </a:xfrm>
              <a:prstGeom prst="rect">
                <a:avLst/>
              </a:prstGeom>
              <a:blipFill>
                <a:blip r:embed="rId5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EF35A02-498E-864D-A2B0-76FFB3334848}"/>
              </a:ext>
            </a:extLst>
          </p:cNvPr>
          <p:cNvSpPr txBox="1"/>
          <p:nvPr/>
        </p:nvSpPr>
        <p:spPr>
          <a:xfrm>
            <a:off x="649356" y="5648787"/>
            <a:ext cx="1231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likelihood ratio after n samples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A2CA52B-4500-F24D-8F14-E958247C417E}"/>
              </a:ext>
            </a:extLst>
          </p:cNvPr>
          <p:cNvCxnSpPr>
            <a:cxnSpLocks/>
          </p:cNvCxnSpPr>
          <p:nvPr/>
        </p:nvCxnSpPr>
        <p:spPr>
          <a:xfrm flipV="1">
            <a:off x="1358621" y="5287869"/>
            <a:ext cx="1" cy="32725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3FC6CFC-1C60-3E49-BD38-2A7E3EA11F0E}"/>
              </a:ext>
            </a:extLst>
          </p:cNvPr>
          <p:cNvSpPr txBox="1"/>
          <p:nvPr/>
        </p:nvSpPr>
        <p:spPr>
          <a:xfrm>
            <a:off x="2412842" y="5648787"/>
            <a:ext cx="1231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likelihood ratio for sample 1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B420ABF-89AE-5C4F-95A0-35FA7118257C}"/>
              </a:ext>
            </a:extLst>
          </p:cNvPr>
          <p:cNvCxnSpPr>
            <a:cxnSpLocks/>
          </p:cNvCxnSpPr>
          <p:nvPr/>
        </p:nvCxnSpPr>
        <p:spPr>
          <a:xfrm flipV="1">
            <a:off x="3028536" y="5322745"/>
            <a:ext cx="1" cy="32725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2D8393-89B9-7C4F-BF36-2AAAD7FE4D49}"/>
              </a:ext>
            </a:extLst>
          </p:cNvPr>
          <p:cNvSpPr txBox="1"/>
          <p:nvPr/>
        </p:nvSpPr>
        <p:spPr>
          <a:xfrm>
            <a:off x="3845731" y="5650003"/>
            <a:ext cx="1231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likelihood ratio for sample 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4844AAE-BD75-9A4D-97FF-0EB032D31C12}"/>
              </a:ext>
            </a:extLst>
          </p:cNvPr>
          <p:cNvCxnSpPr>
            <a:cxnSpLocks/>
          </p:cNvCxnSpPr>
          <p:nvPr/>
        </p:nvCxnSpPr>
        <p:spPr>
          <a:xfrm flipV="1">
            <a:off x="4461425" y="5314233"/>
            <a:ext cx="1" cy="32725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08C3645-5131-1A40-8B6B-CA966809A574}"/>
              </a:ext>
            </a:extLst>
          </p:cNvPr>
          <p:cNvSpPr txBox="1"/>
          <p:nvPr/>
        </p:nvSpPr>
        <p:spPr>
          <a:xfrm>
            <a:off x="5549978" y="5654038"/>
            <a:ext cx="1231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likelihood ratio for sample 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01D5687-43E5-4A4B-9D23-E64B8CFD56CF}"/>
              </a:ext>
            </a:extLst>
          </p:cNvPr>
          <p:cNvCxnSpPr>
            <a:cxnSpLocks/>
          </p:cNvCxnSpPr>
          <p:nvPr/>
        </p:nvCxnSpPr>
        <p:spPr>
          <a:xfrm flipV="1">
            <a:off x="6165672" y="5327996"/>
            <a:ext cx="1" cy="32725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 Box 17">
            <a:extLst>
              <a:ext uri="{FF2B5EF4-FFF2-40B4-BE49-F238E27FC236}">
                <a16:creationId xmlns:a16="http://schemas.microsoft.com/office/drawing/2014/main" id="{911A5900-5E50-0A4C-837A-49CC85ABC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530" y="4143030"/>
            <a:ext cx="53970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Sequential probability ratio test  (SPRT)</a:t>
            </a:r>
            <a:endParaRPr lang="en-US" altLang="en-US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6676A7-8ED8-3246-8533-447DF27AAC2D}"/>
              </a:ext>
            </a:extLst>
          </p:cNvPr>
          <p:cNvSpPr txBox="1"/>
          <p:nvPr/>
        </p:nvSpPr>
        <p:spPr>
          <a:xfrm>
            <a:off x="6941521" y="3785458"/>
            <a:ext cx="20585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0" dirty="0">
                <a:solidFill>
                  <a:schemeClr val="bg1">
                    <a:lumMod val="50000"/>
                  </a:schemeClr>
                </a:solidFill>
              </a:rPr>
              <a:t>From Bayes’ rule, posterior is proportional to likelihood </a:t>
            </a:r>
          </a:p>
          <a:p>
            <a:endParaRPr lang="en-US" dirty="0"/>
          </a:p>
        </p:txBody>
      </p:sp>
      <p:pic>
        <p:nvPicPr>
          <p:cNvPr id="51" name="Picture 50" descr="dotmotiongif.gif">
            <a:extLst>
              <a:ext uri="{FF2B5EF4-FFF2-40B4-BE49-F238E27FC236}">
                <a16:creationId xmlns:a16="http://schemas.microsoft.com/office/drawing/2014/main" id="{2D9842AE-8B58-794E-9D59-248652E82C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36" y="1232831"/>
            <a:ext cx="1083703" cy="955674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D4C63612-2652-AD4B-AAA2-3C87B2C1B630}"/>
              </a:ext>
            </a:extLst>
          </p:cNvPr>
          <p:cNvSpPr/>
          <p:nvPr/>
        </p:nvSpPr>
        <p:spPr>
          <a:xfrm>
            <a:off x="1255517" y="1081162"/>
            <a:ext cx="250162" cy="11073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9C5CAE-509C-9749-A392-66C1445F3573}"/>
              </a:ext>
            </a:extLst>
          </p:cNvPr>
          <p:cNvSpPr/>
          <p:nvPr/>
        </p:nvSpPr>
        <p:spPr>
          <a:xfrm>
            <a:off x="267081" y="1097446"/>
            <a:ext cx="188843" cy="12652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2D886EF-FEBD-3643-979E-320CB723227C}"/>
              </a:ext>
            </a:extLst>
          </p:cNvPr>
          <p:cNvSpPr/>
          <p:nvPr/>
        </p:nvSpPr>
        <p:spPr>
          <a:xfrm rot="5400000">
            <a:off x="793662" y="742937"/>
            <a:ext cx="185438" cy="8944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E37DC6-57D6-B546-82E6-566E70D89AA3}"/>
              </a:ext>
            </a:extLst>
          </p:cNvPr>
          <p:cNvSpPr/>
          <p:nvPr/>
        </p:nvSpPr>
        <p:spPr>
          <a:xfrm rot="5400000">
            <a:off x="793661" y="1736288"/>
            <a:ext cx="185438" cy="8944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5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5">
            <a:extLst>
              <a:ext uri="{FF2B5EF4-FFF2-40B4-BE49-F238E27FC236}">
                <a16:creationId xmlns:a16="http://schemas.microsoft.com/office/drawing/2014/main" id="{B0C89363-17D0-7040-B0AB-A9CAFA4A3E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50"/>
          <a:stretch/>
        </p:blipFill>
        <p:spPr bwMode="auto">
          <a:xfrm>
            <a:off x="111013" y="1329384"/>
            <a:ext cx="2318088" cy="3779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5989363-6972-7244-8A85-929C4028D44A}"/>
              </a:ext>
            </a:extLst>
          </p:cNvPr>
          <p:cNvGrpSpPr/>
          <p:nvPr/>
        </p:nvGrpSpPr>
        <p:grpSpPr>
          <a:xfrm>
            <a:off x="2286001" y="1292255"/>
            <a:ext cx="1576575" cy="1301553"/>
            <a:chOff x="674415" y="1802553"/>
            <a:chExt cx="3523768" cy="284586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DDF9F7A-4E46-1C41-ABFD-882827E0F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415" y="1802553"/>
              <a:ext cx="3523768" cy="2845860"/>
            </a:xfrm>
            <a:prstGeom prst="rect">
              <a:avLst/>
            </a:prstGeom>
          </p:spPr>
        </p:pic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46FC780-8D25-EB42-AB2C-764F8B59ACAC}"/>
                </a:ext>
              </a:extLst>
            </p:cNvPr>
            <p:cNvSpPr/>
            <p:nvPr/>
          </p:nvSpPr>
          <p:spPr>
            <a:xfrm>
              <a:off x="2330921" y="1951977"/>
              <a:ext cx="1460501" cy="914399"/>
            </a:xfrm>
            <a:custGeom>
              <a:avLst/>
              <a:gdLst>
                <a:gd name="connsiteX0" fmla="*/ 76200 w 1460500"/>
                <a:gd name="connsiteY0" fmla="*/ 914400 h 914400"/>
                <a:gd name="connsiteX1" fmla="*/ 0 w 1460500"/>
                <a:gd name="connsiteY1" fmla="*/ 812800 h 914400"/>
                <a:gd name="connsiteX2" fmla="*/ 12700 w 1460500"/>
                <a:gd name="connsiteY2" fmla="*/ 749300 h 914400"/>
                <a:gd name="connsiteX3" fmla="*/ 0 w 1460500"/>
                <a:gd name="connsiteY3" fmla="*/ 635000 h 914400"/>
                <a:gd name="connsiteX4" fmla="*/ 50800 w 1460500"/>
                <a:gd name="connsiteY4" fmla="*/ 533400 h 914400"/>
                <a:gd name="connsiteX5" fmla="*/ 139700 w 1460500"/>
                <a:gd name="connsiteY5" fmla="*/ 419100 h 914400"/>
                <a:gd name="connsiteX6" fmla="*/ 165100 w 1460500"/>
                <a:gd name="connsiteY6" fmla="*/ 355600 h 914400"/>
                <a:gd name="connsiteX7" fmla="*/ 203200 w 1460500"/>
                <a:gd name="connsiteY7" fmla="*/ 292100 h 914400"/>
                <a:gd name="connsiteX8" fmla="*/ 203200 w 1460500"/>
                <a:gd name="connsiteY8" fmla="*/ 292100 h 914400"/>
                <a:gd name="connsiteX9" fmla="*/ 393700 w 1460500"/>
                <a:gd name="connsiteY9" fmla="*/ 165100 h 914400"/>
                <a:gd name="connsiteX10" fmla="*/ 457200 w 1460500"/>
                <a:gd name="connsiteY10" fmla="*/ 139700 h 914400"/>
                <a:gd name="connsiteX11" fmla="*/ 546100 w 1460500"/>
                <a:gd name="connsiteY11" fmla="*/ 63500 h 914400"/>
                <a:gd name="connsiteX12" fmla="*/ 622300 w 1460500"/>
                <a:gd name="connsiteY12" fmla="*/ 12700 h 914400"/>
                <a:gd name="connsiteX13" fmla="*/ 673100 w 1460500"/>
                <a:gd name="connsiteY13" fmla="*/ 0 h 914400"/>
                <a:gd name="connsiteX14" fmla="*/ 749300 w 1460500"/>
                <a:gd name="connsiteY14" fmla="*/ 0 h 914400"/>
                <a:gd name="connsiteX15" fmla="*/ 812800 w 1460500"/>
                <a:gd name="connsiteY15" fmla="*/ 12700 h 914400"/>
                <a:gd name="connsiteX16" fmla="*/ 876300 w 1460500"/>
                <a:gd name="connsiteY16" fmla="*/ 38100 h 914400"/>
                <a:gd name="connsiteX17" fmla="*/ 927100 w 1460500"/>
                <a:gd name="connsiteY17" fmla="*/ 76200 h 914400"/>
                <a:gd name="connsiteX18" fmla="*/ 1003300 w 1460500"/>
                <a:gd name="connsiteY18" fmla="*/ 101600 h 914400"/>
                <a:gd name="connsiteX19" fmla="*/ 1104900 w 1460500"/>
                <a:gd name="connsiteY19" fmla="*/ 177800 h 914400"/>
                <a:gd name="connsiteX20" fmla="*/ 1155700 w 1460500"/>
                <a:gd name="connsiteY20" fmla="*/ 215900 h 914400"/>
                <a:gd name="connsiteX21" fmla="*/ 1193800 w 1460500"/>
                <a:gd name="connsiteY21" fmla="*/ 241300 h 914400"/>
                <a:gd name="connsiteX22" fmla="*/ 1206500 w 1460500"/>
                <a:gd name="connsiteY22" fmla="*/ 292100 h 914400"/>
                <a:gd name="connsiteX23" fmla="*/ 1231900 w 1460500"/>
                <a:gd name="connsiteY23" fmla="*/ 330200 h 914400"/>
                <a:gd name="connsiteX24" fmla="*/ 1270000 w 1460500"/>
                <a:gd name="connsiteY24" fmla="*/ 355600 h 914400"/>
                <a:gd name="connsiteX25" fmla="*/ 1320800 w 1460500"/>
                <a:gd name="connsiteY25" fmla="*/ 393700 h 914400"/>
                <a:gd name="connsiteX26" fmla="*/ 1384300 w 1460500"/>
                <a:gd name="connsiteY26" fmla="*/ 431800 h 914400"/>
                <a:gd name="connsiteX27" fmla="*/ 1409700 w 1460500"/>
                <a:gd name="connsiteY27" fmla="*/ 482600 h 914400"/>
                <a:gd name="connsiteX28" fmla="*/ 1460500 w 1460500"/>
                <a:gd name="connsiteY28" fmla="*/ 558800 h 914400"/>
                <a:gd name="connsiteX29" fmla="*/ 1397000 w 1460500"/>
                <a:gd name="connsiteY29" fmla="*/ 558800 h 914400"/>
                <a:gd name="connsiteX30" fmla="*/ 1257300 w 1460500"/>
                <a:gd name="connsiteY30" fmla="*/ 558800 h 914400"/>
                <a:gd name="connsiteX31" fmla="*/ 1181100 w 1460500"/>
                <a:gd name="connsiteY31" fmla="*/ 546100 h 914400"/>
                <a:gd name="connsiteX32" fmla="*/ 1054100 w 1460500"/>
                <a:gd name="connsiteY32" fmla="*/ 558800 h 914400"/>
                <a:gd name="connsiteX33" fmla="*/ 1054100 w 1460500"/>
                <a:gd name="connsiteY33" fmla="*/ 558800 h 914400"/>
                <a:gd name="connsiteX34" fmla="*/ 901700 w 1460500"/>
                <a:gd name="connsiteY34" fmla="*/ 571500 h 914400"/>
                <a:gd name="connsiteX35" fmla="*/ 762000 w 1460500"/>
                <a:gd name="connsiteY35" fmla="*/ 584200 h 914400"/>
                <a:gd name="connsiteX36" fmla="*/ 698500 w 1460500"/>
                <a:gd name="connsiteY36" fmla="*/ 584200 h 914400"/>
                <a:gd name="connsiteX37" fmla="*/ 660400 w 1460500"/>
                <a:gd name="connsiteY37" fmla="*/ 584200 h 914400"/>
                <a:gd name="connsiteX38" fmla="*/ 596900 w 1460500"/>
                <a:gd name="connsiteY38" fmla="*/ 635000 h 914400"/>
                <a:gd name="connsiteX39" fmla="*/ 546100 w 1460500"/>
                <a:gd name="connsiteY39" fmla="*/ 698500 h 914400"/>
                <a:gd name="connsiteX40" fmla="*/ 469900 w 1460500"/>
                <a:gd name="connsiteY40" fmla="*/ 749300 h 914400"/>
                <a:gd name="connsiteX41" fmla="*/ 431800 w 1460500"/>
                <a:gd name="connsiteY41" fmla="*/ 787400 h 914400"/>
                <a:gd name="connsiteX42" fmla="*/ 368300 w 1460500"/>
                <a:gd name="connsiteY42" fmla="*/ 800100 h 914400"/>
                <a:gd name="connsiteX43" fmla="*/ 254000 w 1460500"/>
                <a:gd name="connsiteY43" fmla="*/ 812800 h 914400"/>
                <a:gd name="connsiteX44" fmla="*/ 190500 w 1460500"/>
                <a:gd name="connsiteY44" fmla="*/ 825500 h 914400"/>
                <a:gd name="connsiteX45" fmla="*/ 165100 w 1460500"/>
                <a:gd name="connsiteY45" fmla="*/ 863600 h 914400"/>
                <a:gd name="connsiteX46" fmla="*/ 127000 w 1460500"/>
                <a:gd name="connsiteY46" fmla="*/ 889000 h 914400"/>
                <a:gd name="connsiteX47" fmla="*/ 76200 w 1460500"/>
                <a:gd name="connsiteY47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460500" h="914400">
                  <a:moveTo>
                    <a:pt x="76200" y="914400"/>
                  </a:moveTo>
                  <a:lnTo>
                    <a:pt x="0" y="812800"/>
                  </a:lnTo>
                  <a:lnTo>
                    <a:pt x="12700" y="749300"/>
                  </a:lnTo>
                  <a:lnTo>
                    <a:pt x="0" y="635000"/>
                  </a:lnTo>
                  <a:lnTo>
                    <a:pt x="50800" y="533400"/>
                  </a:lnTo>
                  <a:lnTo>
                    <a:pt x="139700" y="419100"/>
                  </a:lnTo>
                  <a:lnTo>
                    <a:pt x="165100" y="355600"/>
                  </a:lnTo>
                  <a:lnTo>
                    <a:pt x="203200" y="292100"/>
                  </a:lnTo>
                  <a:lnTo>
                    <a:pt x="203200" y="292100"/>
                  </a:lnTo>
                  <a:lnTo>
                    <a:pt x="393700" y="165100"/>
                  </a:lnTo>
                  <a:lnTo>
                    <a:pt x="457200" y="139700"/>
                  </a:lnTo>
                  <a:lnTo>
                    <a:pt x="546100" y="63500"/>
                  </a:lnTo>
                  <a:lnTo>
                    <a:pt x="622300" y="12700"/>
                  </a:lnTo>
                  <a:lnTo>
                    <a:pt x="673100" y="0"/>
                  </a:lnTo>
                  <a:lnTo>
                    <a:pt x="749300" y="0"/>
                  </a:lnTo>
                  <a:lnTo>
                    <a:pt x="812800" y="12700"/>
                  </a:lnTo>
                  <a:lnTo>
                    <a:pt x="876300" y="38100"/>
                  </a:lnTo>
                  <a:lnTo>
                    <a:pt x="927100" y="76200"/>
                  </a:lnTo>
                  <a:lnTo>
                    <a:pt x="1003300" y="101600"/>
                  </a:lnTo>
                  <a:lnTo>
                    <a:pt x="1104900" y="177800"/>
                  </a:lnTo>
                  <a:lnTo>
                    <a:pt x="1155700" y="215900"/>
                  </a:lnTo>
                  <a:lnTo>
                    <a:pt x="1193800" y="241300"/>
                  </a:lnTo>
                  <a:lnTo>
                    <a:pt x="1206500" y="292100"/>
                  </a:lnTo>
                  <a:lnTo>
                    <a:pt x="1231900" y="330200"/>
                  </a:lnTo>
                  <a:lnTo>
                    <a:pt x="1270000" y="355600"/>
                  </a:lnTo>
                  <a:lnTo>
                    <a:pt x="1320800" y="393700"/>
                  </a:lnTo>
                  <a:lnTo>
                    <a:pt x="1384300" y="431800"/>
                  </a:lnTo>
                  <a:lnTo>
                    <a:pt x="1409700" y="482600"/>
                  </a:lnTo>
                  <a:lnTo>
                    <a:pt x="1460500" y="558800"/>
                  </a:lnTo>
                  <a:lnTo>
                    <a:pt x="1397000" y="558800"/>
                  </a:lnTo>
                  <a:lnTo>
                    <a:pt x="1257300" y="558800"/>
                  </a:lnTo>
                  <a:lnTo>
                    <a:pt x="1181100" y="546100"/>
                  </a:lnTo>
                  <a:lnTo>
                    <a:pt x="1054100" y="558800"/>
                  </a:lnTo>
                  <a:lnTo>
                    <a:pt x="1054100" y="558800"/>
                  </a:lnTo>
                  <a:lnTo>
                    <a:pt x="901700" y="571500"/>
                  </a:lnTo>
                  <a:lnTo>
                    <a:pt x="762000" y="584200"/>
                  </a:lnTo>
                  <a:lnTo>
                    <a:pt x="698500" y="584200"/>
                  </a:lnTo>
                  <a:lnTo>
                    <a:pt x="660400" y="584200"/>
                  </a:lnTo>
                  <a:lnTo>
                    <a:pt x="596900" y="635000"/>
                  </a:lnTo>
                  <a:lnTo>
                    <a:pt x="546100" y="698500"/>
                  </a:lnTo>
                  <a:lnTo>
                    <a:pt x="469900" y="749300"/>
                  </a:lnTo>
                  <a:lnTo>
                    <a:pt x="431800" y="787400"/>
                  </a:lnTo>
                  <a:lnTo>
                    <a:pt x="368300" y="800100"/>
                  </a:lnTo>
                  <a:lnTo>
                    <a:pt x="254000" y="812800"/>
                  </a:lnTo>
                  <a:lnTo>
                    <a:pt x="190500" y="825500"/>
                  </a:lnTo>
                  <a:lnTo>
                    <a:pt x="165100" y="863600"/>
                  </a:lnTo>
                  <a:lnTo>
                    <a:pt x="127000" y="889000"/>
                  </a:lnTo>
                  <a:lnTo>
                    <a:pt x="76200" y="914400"/>
                  </a:lnTo>
                  <a:close/>
                </a:path>
              </a:pathLst>
            </a:custGeom>
            <a:noFill/>
            <a:ln w="508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7" name="Picture 15">
            <a:extLst>
              <a:ext uri="{FF2B5EF4-FFF2-40B4-BE49-F238E27FC236}">
                <a16:creationId xmlns:a16="http://schemas.microsoft.com/office/drawing/2014/main" id="{4CC0C8BA-45E1-8445-A602-220949C931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2" t="36553" b="32700"/>
          <a:stretch/>
        </p:blipFill>
        <p:spPr bwMode="auto">
          <a:xfrm>
            <a:off x="2467504" y="3651498"/>
            <a:ext cx="1326182" cy="1204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851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Temporal integration in cortical neurons</a:t>
            </a:r>
          </a:p>
        </p:txBody>
      </p:sp>
      <p:sp>
        <p:nvSpPr>
          <p:cNvPr id="35844" name="Text Box 11">
            <a:extLst>
              <a:ext uri="{FF2B5EF4-FFF2-40B4-BE49-F238E27FC236}">
                <a16:creationId xmlns:a16="http://schemas.microsoft.com/office/drawing/2014/main" id="{F45D0E51-506E-584B-A88D-11CD2C5FB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7481" y="6467147"/>
            <a:ext cx="48344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>
                <a:latin typeface="Calibri" panose="020F0502020204030204" pitchFamily="34" charset="0"/>
              </a:rPr>
              <a:t>Gold &amp; </a:t>
            </a:r>
            <a:r>
              <a:rPr lang="en-GB" altLang="en-US" sz="1800" dirty="0" err="1">
                <a:latin typeface="Calibri" panose="020F0502020204030204" pitchFamily="34" charset="0"/>
              </a:rPr>
              <a:t>Shadlen</a:t>
            </a:r>
            <a:r>
              <a:rPr lang="en-GB" altLang="en-US" sz="1800" dirty="0">
                <a:latin typeface="Calibri" panose="020F0502020204030204" pitchFamily="34" charset="0"/>
              </a:rPr>
              <a:t> 2007; Hanks &amp; Summerfield 2017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sp>
        <p:nvSpPr>
          <p:cNvPr id="35849" name="Text Box 17">
            <a:extLst>
              <a:ext uri="{FF2B5EF4-FFF2-40B4-BE49-F238E27FC236}">
                <a16:creationId xmlns:a16="http://schemas.microsoft.com/office/drawing/2014/main" id="{9D82D3B2-6FA7-7B47-B6F0-7D39A95CE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616" y="1442596"/>
            <a:ext cx="415087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Neurons in the lateral parietal and prefrontal cortex act as integrators during perceptual choice tasks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pic>
        <p:nvPicPr>
          <p:cNvPr id="12" name="Picture 15">
            <a:extLst>
              <a:ext uri="{FF2B5EF4-FFF2-40B4-BE49-F238E27FC236}">
                <a16:creationId xmlns:a16="http://schemas.microsoft.com/office/drawing/2014/main" id="{49A43A32-BD22-394F-9E73-C195F0F7F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2" b="68411"/>
          <a:stretch/>
        </p:blipFill>
        <p:spPr bwMode="auto">
          <a:xfrm>
            <a:off x="2429101" y="2501951"/>
            <a:ext cx="1326182" cy="1237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0B58FC-F253-5A45-A34A-37237122CD36}"/>
                  </a:ext>
                </a:extLst>
              </p:cNvPr>
              <p:cNvSpPr txBox="1"/>
              <p:nvPr/>
            </p:nvSpPr>
            <p:spPr>
              <a:xfrm>
                <a:off x="4660181" y="3300570"/>
                <a:ext cx="25341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0B58FC-F253-5A45-A34A-37237122C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181" y="3300570"/>
                <a:ext cx="2534155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7">
            <a:extLst>
              <a:ext uri="{FF2B5EF4-FFF2-40B4-BE49-F238E27FC236}">
                <a16:creationId xmlns:a16="http://schemas.microsoft.com/office/drawing/2014/main" id="{BD322231-970C-D847-B3EB-7A741775F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373" y="5313919"/>
            <a:ext cx="351497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During decisions about a dot motion stimulus, firing rates increase in proportion to the signal-to-noise ratio (motion coherence)</a:t>
            </a:r>
            <a:endParaRPr lang="en-US" altLang="en-US" sz="18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7">
                <a:extLst>
                  <a:ext uri="{FF2B5EF4-FFF2-40B4-BE49-F238E27FC236}">
                    <a16:creationId xmlns:a16="http://schemas.microsoft.com/office/drawing/2014/main" id="{F8719C06-AA97-B74E-8AC5-6D336A38D4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96278" y="3294675"/>
                <a:ext cx="1955668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lang="en-GB" altLang="en-US" sz="16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16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</a:rPr>
                  <a:t> here denotes the integration cycle within at trial</a:t>
                </a:r>
              </a:p>
            </p:txBody>
          </p:sp>
        </mc:Choice>
        <mc:Fallback xmlns="">
          <p:sp>
            <p:nvSpPr>
              <p:cNvPr id="15" name="Text Box 17">
                <a:extLst>
                  <a:ext uri="{FF2B5EF4-FFF2-40B4-BE49-F238E27FC236}">
                    <a16:creationId xmlns:a16="http://schemas.microsoft.com/office/drawing/2014/main" id="{F8719C06-AA97-B74E-8AC5-6D336A38D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6278" y="3294675"/>
                <a:ext cx="1955668" cy="830997"/>
              </a:xfrm>
              <a:prstGeom prst="rect">
                <a:avLst/>
              </a:prstGeom>
              <a:blipFill>
                <a:blip r:embed="rId6"/>
                <a:stretch>
                  <a:fillRect l="-1290" b="-59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8F1EDE-B776-5143-AD46-1F09159863CD}"/>
              </a:ext>
            </a:extLst>
          </p:cNvPr>
          <p:cNvCxnSpPr>
            <a:cxnSpLocks/>
          </p:cNvCxnSpPr>
          <p:nvPr/>
        </p:nvCxnSpPr>
        <p:spPr>
          <a:xfrm flipV="1">
            <a:off x="5715821" y="3653482"/>
            <a:ext cx="191980" cy="20108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6BD2308-9121-1D4F-900F-B070B2F3C1DE}"/>
              </a:ext>
            </a:extLst>
          </p:cNvPr>
          <p:cNvCxnSpPr>
            <a:cxnSpLocks/>
          </p:cNvCxnSpPr>
          <p:nvPr/>
        </p:nvCxnSpPr>
        <p:spPr>
          <a:xfrm flipH="1" flipV="1">
            <a:off x="4823518" y="3661692"/>
            <a:ext cx="190809" cy="19287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Box 17">
            <a:extLst>
              <a:ext uri="{FF2B5EF4-FFF2-40B4-BE49-F238E27FC236}">
                <a16:creationId xmlns:a16="http://schemas.microsoft.com/office/drawing/2014/main" id="{A54AD64D-9DD2-2F43-A36C-089767875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350" y="3854568"/>
            <a:ext cx="7540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dirty="0">
                <a:latin typeface="Calibri" panose="020F0502020204030204" pitchFamily="34" charset="0"/>
              </a:rPr>
              <a:t>drift rate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9B993BC7-9A39-194A-A0B4-6C328A249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27" y="3854687"/>
            <a:ext cx="11011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Calibri" panose="020F0502020204030204" pitchFamily="34" charset="0"/>
              </a:rPr>
              <a:t>cumulative DV</a:t>
            </a:r>
          </a:p>
        </p:txBody>
      </p:sp>
      <p:sp>
        <p:nvSpPr>
          <p:cNvPr id="24" name="Text Box 17">
            <a:extLst>
              <a:ext uri="{FF2B5EF4-FFF2-40B4-BE49-F238E27FC236}">
                <a16:creationId xmlns:a16="http://schemas.microsoft.com/office/drawing/2014/main" id="{5FACD99B-5C55-EA43-AF4E-B288939AD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1421" y="3854687"/>
            <a:ext cx="7540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dirty="0">
                <a:latin typeface="Calibri" panose="020F0502020204030204" pitchFamily="34" charset="0"/>
              </a:rPr>
              <a:t>noise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800BA0-6689-F240-B1CA-83A38EDEA865}"/>
              </a:ext>
            </a:extLst>
          </p:cNvPr>
          <p:cNvCxnSpPr>
            <a:cxnSpLocks/>
          </p:cNvCxnSpPr>
          <p:nvPr/>
        </p:nvCxnSpPr>
        <p:spPr>
          <a:xfrm flipV="1">
            <a:off x="6460139" y="3640773"/>
            <a:ext cx="158033" cy="22364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Box 17">
            <a:extLst>
              <a:ext uri="{FF2B5EF4-FFF2-40B4-BE49-F238E27FC236}">
                <a16:creationId xmlns:a16="http://schemas.microsoft.com/office/drawing/2014/main" id="{7D800D9B-586D-524A-B7A2-5F48466D5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944" y="4465875"/>
            <a:ext cx="453645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average firing rates and behaviour can be predicted by sequential sampling models such as the DDM, which approximates SPRT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pic>
        <p:nvPicPr>
          <p:cNvPr id="26" name="Picture 15">
            <a:extLst>
              <a:ext uri="{FF2B5EF4-FFF2-40B4-BE49-F238E27FC236}">
                <a16:creationId xmlns:a16="http://schemas.microsoft.com/office/drawing/2014/main" id="{79DB812D-2A25-5E40-AD19-9A17E0B78C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94" t="68419" b="6600"/>
          <a:stretch/>
        </p:blipFill>
        <p:spPr bwMode="auto">
          <a:xfrm>
            <a:off x="1715141" y="3739578"/>
            <a:ext cx="783934" cy="87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0618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B6255-3D62-5B0E-ECDB-E206F9566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71" name="Picture 35870">
            <a:extLst>
              <a:ext uri="{FF2B5EF4-FFF2-40B4-BE49-F238E27FC236}">
                <a16:creationId xmlns:a16="http://schemas.microsoft.com/office/drawing/2014/main" id="{D3BD8C74-3466-A095-F020-E78F22C48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79" y="1775244"/>
            <a:ext cx="4467557" cy="3291884"/>
          </a:xfrm>
          <a:prstGeom prst="rect">
            <a:avLst/>
          </a:prstGeom>
        </p:spPr>
      </p:pic>
      <p:sp>
        <p:nvSpPr>
          <p:cNvPr id="35841" name="Rectangle 2">
            <a:extLst>
              <a:ext uri="{FF2B5EF4-FFF2-40B4-BE49-F238E27FC236}">
                <a16:creationId xmlns:a16="http://schemas.microsoft.com/office/drawing/2014/main" id="{7B5CD282-BA61-5495-3326-FC4A4DBAF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1421D1E4-C5BE-512F-F4BB-B2EED17D4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Recurrent models for perceptual decisions</a:t>
            </a:r>
          </a:p>
        </p:txBody>
      </p:sp>
      <p:sp>
        <p:nvSpPr>
          <p:cNvPr id="35844" name="Text Box 11">
            <a:extLst>
              <a:ext uri="{FF2B5EF4-FFF2-40B4-BE49-F238E27FC236}">
                <a16:creationId xmlns:a16="http://schemas.microsoft.com/office/drawing/2014/main" id="{D7CB3849-3CBD-B632-8F08-25FB723B3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4414" y="6488668"/>
            <a:ext cx="13045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>
                <a:latin typeface="Calibri" panose="020F0502020204030204" pitchFamily="34" charset="0"/>
              </a:rPr>
              <a:t>Wang, 2012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EE39ED-33F3-3424-391E-0D4C8063D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pic>
        <p:nvPicPr>
          <p:cNvPr id="35869" name="Picture 35868">
            <a:extLst>
              <a:ext uri="{FF2B5EF4-FFF2-40B4-BE49-F238E27FC236}">
                <a16:creationId xmlns:a16="http://schemas.microsoft.com/office/drawing/2014/main" id="{D6A5A19B-2818-A586-37B5-432D9ED91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277" y="1830825"/>
            <a:ext cx="1329056" cy="949326"/>
          </a:xfrm>
          <a:prstGeom prst="rect">
            <a:avLst/>
          </a:prstGeom>
        </p:spPr>
      </p:pic>
      <p:sp>
        <p:nvSpPr>
          <p:cNvPr id="142" name="Text Box 17">
            <a:extLst>
              <a:ext uri="{FF2B5EF4-FFF2-40B4-BE49-F238E27FC236}">
                <a16:creationId xmlns:a16="http://schemas.microsoft.com/office/drawing/2014/main" id="{5EE8A8A2-617F-7F59-E2CE-DEECE35BD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38" y="1122939"/>
            <a:ext cx="209144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2000" dirty="0">
                <a:latin typeface="Calibri" panose="020F0502020204030204" pitchFamily="34" charset="0"/>
              </a:rPr>
              <a:t>drift-diffusion model (linear)</a:t>
            </a:r>
            <a:endParaRPr lang="en-US" altLang="en-US" sz="2000" dirty="0">
              <a:latin typeface="Calibri" panose="020F0502020204030204" pitchFamily="34" charset="0"/>
            </a:endParaRPr>
          </a:p>
        </p:txBody>
      </p:sp>
      <p:sp>
        <p:nvSpPr>
          <p:cNvPr id="143" name="Text Box 17">
            <a:extLst>
              <a:ext uri="{FF2B5EF4-FFF2-40B4-BE49-F238E27FC236}">
                <a16:creationId xmlns:a16="http://schemas.microsoft.com/office/drawing/2014/main" id="{938106BC-4B85-EAF5-DB3C-5D6B50258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333" y="1106998"/>
            <a:ext cx="207954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000" dirty="0">
                <a:latin typeface="Calibri" panose="020F0502020204030204" pitchFamily="34" charset="0"/>
              </a:rPr>
              <a:t>Wang model (nonlinear)</a:t>
            </a:r>
            <a:endParaRPr lang="en-US" altLang="en-US" sz="2000" dirty="0">
              <a:latin typeface="Calibri" panose="020F0502020204030204" pitchFamily="34" charset="0"/>
            </a:endParaRPr>
          </a:p>
        </p:txBody>
      </p:sp>
      <p:sp>
        <p:nvSpPr>
          <p:cNvPr id="146" name="Text Box 17">
            <a:extLst>
              <a:ext uri="{FF2B5EF4-FFF2-40B4-BE49-F238E27FC236}">
                <a16:creationId xmlns:a16="http://schemas.microsoft.com/office/drawing/2014/main" id="{46E61605-200E-2A13-5A81-BAC39CEBA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04" y="5312805"/>
            <a:ext cx="777437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Elaborations of the sequential sampling framework include recurrent inhibition between integrators</a:t>
            </a:r>
            <a:endParaRPr lang="en-US" altLang="en-US" sz="2800" dirty="0">
              <a:latin typeface="Calibri" panose="020F0502020204030204" pitchFamily="34" charset="0"/>
            </a:endParaRPr>
          </a:p>
        </p:txBody>
      </p:sp>
      <p:pic>
        <p:nvPicPr>
          <p:cNvPr id="35873" name="Picture 35872">
            <a:extLst>
              <a:ext uri="{FF2B5EF4-FFF2-40B4-BE49-F238E27FC236}">
                <a16:creationId xmlns:a16="http://schemas.microsoft.com/office/drawing/2014/main" id="{EE2A5744-88C4-2690-FCE1-634BBF258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633" y="2070437"/>
            <a:ext cx="3293094" cy="2664770"/>
          </a:xfrm>
          <a:prstGeom prst="rect">
            <a:avLst/>
          </a:prstGeom>
        </p:spPr>
      </p:pic>
      <p:sp>
        <p:nvSpPr>
          <p:cNvPr id="149" name="Text Box 17">
            <a:extLst>
              <a:ext uri="{FF2B5EF4-FFF2-40B4-BE49-F238E27FC236}">
                <a16:creationId xmlns:a16="http://schemas.microsoft.com/office/drawing/2014/main" id="{BE643224-EB2A-3E8D-CC57-770EF6E6A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311" y="1345817"/>
            <a:ext cx="32984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the Wang model accounts for nonlinear dynamics in integration</a:t>
            </a:r>
            <a:endParaRPr lang="en-US" altLang="en-US" sz="18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488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A87C-0485-FF36-9648-D4D52B0C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988AD627-7C0F-A23E-66EB-E2D0D26BB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07A4B03C-4A14-0294-5558-C1AD9002C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Echo state network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B70017-2735-213E-000A-C7E37B651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15" name="Text Box 17">
            <a:extLst>
              <a:ext uri="{FF2B5EF4-FFF2-40B4-BE49-F238E27FC236}">
                <a16:creationId xmlns:a16="http://schemas.microsoft.com/office/drawing/2014/main" id="{66A293D3-1FCB-9CCC-9810-FE5A36273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19" y="4450489"/>
            <a:ext cx="837508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GB" altLang="en-US" sz="800" dirty="0">
              <a:latin typeface="Calibri" panose="020F0502020204030204" pitchFamily="34" charset="0"/>
            </a:endParaRPr>
          </a:p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An echo state network is an RNN in which the hidden weights are fixed (not trainable)</a:t>
            </a:r>
            <a:endParaRPr lang="en-US" altLang="en-US" sz="2800" dirty="0">
              <a:latin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A42778-A487-11F9-6FDB-F59EB20E801D}"/>
              </a:ext>
            </a:extLst>
          </p:cNvPr>
          <p:cNvGrpSpPr/>
          <p:nvPr/>
        </p:nvGrpSpPr>
        <p:grpSpPr>
          <a:xfrm>
            <a:off x="1317520" y="1330293"/>
            <a:ext cx="5857003" cy="2658902"/>
            <a:chOff x="855296" y="1380535"/>
            <a:chExt cx="7002515" cy="3141224"/>
          </a:xfrm>
        </p:grpSpPr>
        <p:pic>
          <p:nvPicPr>
            <p:cNvPr id="1026" name="Picture 2" descr="Impact of time-history terms on reservoir dynamics and prediction accuracy  in echo state networks | Scientific Reports">
              <a:extLst>
                <a:ext uri="{FF2B5EF4-FFF2-40B4-BE49-F238E27FC236}">
                  <a16:creationId xmlns:a16="http://schemas.microsoft.com/office/drawing/2014/main" id="{0554FEB7-AB2B-BFE7-C07F-F272D9CF33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190"/>
            <a:stretch>
              <a:fillRect/>
            </a:stretch>
          </p:blipFill>
          <p:spPr bwMode="auto">
            <a:xfrm>
              <a:off x="855296" y="1380535"/>
              <a:ext cx="7002515" cy="3141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Impact of time-history terms on reservoir dynamics and prediction accuracy  in echo state networks | Scientific Reports">
              <a:extLst>
                <a:ext uri="{FF2B5EF4-FFF2-40B4-BE49-F238E27FC236}">
                  <a16:creationId xmlns:a16="http://schemas.microsoft.com/office/drawing/2014/main" id="{65DDE024-F53C-54DA-D35B-F5E664E43B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893" t="88810" r="46923" b="-741"/>
            <a:stretch>
              <a:fillRect/>
            </a:stretch>
          </p:blipFill>
          <p:spPr bwMode="auto">
            <a:xfrm>
              <a:off x="974689" y="2893925"/>
              <a:ext cx="643095" cy="4220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6395A2-C7A1-3B14-9AC1-13F56459BF32}"/>
                  </a:ext>
                </a:extLst>
              </p:cNvPr>
              <p:cNvSpPr txBox="1"/>
              <p:nvPr/>
            </p:nvSpPr>
            <p:spPr>
              <a:xfrm>
                <a:off x="1220875" y="5758168"/>
                <a:ext cx="65364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𝑟𝑒𝑠</m:t>
                          </m:r>
                        </m:sub>
                      </m:sSub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6395A2-C7A1-3B14-9AC1-13F56459B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875" y="5758168"/>
                <a:ext cx="6536451" cy="461665"/>
              </a:xfrm>
              <a:prstGeom prst="rect">
                <a:avLst/>
              </a:prstGeom>
              <a:blipFill>
                <a:blip r:embed="rId4"/>
                <a:stretch>
                  <a:fillRect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9A5A88-7D45-48FC-E59F-2937E5A60242}"/>
                  </a:ext>
                </a:extLst>
              </p:cNvPr>
              <p:cNvSpPr txBox="1"/>
              <p:nvPr/>
            </p:nvSpPr>
            <p:spPr>
              <a:xfrm>
                <a:off x="3900791" y="3899663"/>
                <a:ext cx="7215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0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9A5A88-7D45-48FC-E59F-2937E5A60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791" y="3899663"/>
                <a:ext cx="721544" cy="400110"/>
              </a:xfrm>
              <a:prstGeom prst="rect">
                <a:avLst/>
              </a:prstGeom>
              <a:blipFill>
                <a:blip r:embed="rId5"/>
                <a:stretch>
                  <a:fillRect t="-9375" r="-1403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3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Recurrent neural network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17">
                <a:extLst>
                  <a:ext uri="{FF2B5EF4-FFF2-40B4-BE49-F238E27FC236}">
                    <a16:creationId xmlns:a16="http://schemas.microsoft.com/office/drawing/2014/main" id="{86C2CFF1-FD6D-6A4F-AB05-06E7DE54D4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429" y="4921869"/>
                <a:ext cx="2218063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 altLang="en-US" sz="800" dirty="0">
                  <a:latin typeface="Calibri" panose="020F0502020204030204" pitchFamily="34" charset="0"/>
                </a:endParaRP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alt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alt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alt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alt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alt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800" dirty="0">
                  <a:latin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5" name="Text Box 17">
                <a:extLst>
                  <a:ext uri="{FF2B5EF4-FFF2-40B4-BE49-F238E27FC236}">
                    <a16:creationId xmlns:a16="http://schemas.microsoft.com/office/drawing/2014/main" id="{86C2CFF1-FD6D-6A4F-AB05-06E7DE54D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429" y="4921869"/>
                <a:ext cx="2218063" cy="646331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F15368B-6E1D-1AD6-96D6-D6A71F20D0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913"/>
          <a:stretch>
            <a:fillRect/>
          </a:stretch>
        </p:blipFill>
        <p:spPr>
          <a:xfrm>
            <a:off x="100482" y="1838704"/>
            <a:ext cx="8727663" cy="27835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085E25-F302-1C47-B587-039EE0E1F96D}"/>
              </a:ext>
            </a:extLst>
          </p:cNvPr>
          <p:cNvSpPr txBox="1"/>
          <p:nvPr/>
        </p:nvSpPr>
        <p:spPr>
          <a:xfrm>
            <a:off x="1657978" y="4523584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AADEC8C-408E-CC67-42F3-18BD80A56C66}"/>
              </a:ext>
            </a:extLst>
          </p:cNvPr>
          <p:cNvCxnSpPr>
            <a:cxnSpLocks/>
          </p:cNvCxnSpPr>
          <p:nvPr/>
        </p:nvCxnSpPr>
        <p:spPr>
          <a:xfrm>
            <a:off x="2230735" y="4718298"/>
            <a:ext cx="2813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6871567-D47B-D202-7F7C-46C16CEBC8C8}"/>
              </a:ext>
            </a:extLst>
          </p:cNvPr>
          <p:cNvSpPr txBox="1"/>
          <p:nvPr/>
        </p:nvSpPr>
        <p:spPr>
          <a:xfrm>
            <a:off x="3448259" y="4523584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3246E5-0E82-94AE-AB57-2B84783AC01C}"/>
              </a:ext>
            </a:extLst>
          </p:cNvPr>
          <p:cNvCxnSpPr>
            <a:cxnSpLocks/>
          </p:cNvCxnSpPr>
          <p:nvPr/>
        </p:nvCxnSpPr>
        <p:spPr>
          <a:xfrm>
            <a:off x="4021016" y="4718298"/>
            <a:ext cx="2813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C3D0F-88EE-FB42-7B2A-427135E02676}"/>
              </a:ext>
            </a:extLst>
          </p:cNvPr>
          <p:cNvSpPr txBox="1"/>
          <p:nvPr/>
        </p:nvSpPr>
        <p:spPr>
          <a:xfrm>
            <a:off x="5410385" y="4523584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FF9569-5751-8EE5-6D48-9307EEC87F03}"/>
              </a:ext>
            </a:extLst>
          </p:cNvPr>
          <p:cNvCxnSpPr>
            <a:cxnSpLocks/>
          </p:cNvCxnSpPr>
          <p:nvPr/>
        </p:nvCxnSpPr>
        <p:spPr>
          <a:xfrm>
            <a:off x="5983142" y="4718298"/>
            <a:ext cx="2813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A72BE8-246D-CD0D-12BF-B5BB31172746}"/>
              </a:ext>
            </a:extLst>
          </p:cNvPr>
          <p:cNvSpPr txBox="1"/>
          <p:nvPr/>
        </p:nvSpPr>
        <p:spPr>
          <a:xfrm>
            <a:off x="7612647" y="4523584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18FAFF-73DE-459E-A773-FD650B8FA973}"/>
              </a:ext>
            </a:extLst>
          </p:cNvPr>
          <p:cNvCxnSpPr>
            <a:cxnSpLocks/>
          </p:cNvCxnSpPr>
          <p:nvPr/>
        </p:nvCxnSpPr>
        <p:spPr>
          <a:xfrm>
            <a:off x="8185404" y="4718298"/>
            <a:ext cx="2813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0C227B3-B72F-D2D9-BFAF-9AD5DA8F3BA2}"/>
              </a:ext>
            </a:extLst>
          </p:cNvPr>
          <p:cNvSpPr/>
          <p:nvPr/>
        </p:nvSpPr>
        <p:spPr>
          <a:xfrm>
            <a:off x="1356527" y="1838848"/>
            <a:ext cx="7471618" cy="32355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17">
                <a:extLst>
                  <a:ext uri="{FF2B5EF4-FFF2-40B4-BE49-F238E27FC236}">
                    <a16:creationId xmlns:a16="http://schemas.microsoft.com/office/drawing/2014/main" id="{472312B5-8576-817A-F831-92A53489E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1612" y="4921869"/>
                <a:ext cx="3191431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 altLang="en-US" sz="800" dirty="0">
                  <a:latin typeface="Calibri" panose="020F0502020204030204" pitchFamily="34" charset="0"/>
                </a:endParaRP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alt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alt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alt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alt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altLang="en-US" sz="2800" b="0" i="1" smtClean="0"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en-GB" alt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alt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800" dirty="0">
                  <a:latin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7" name="Text Box 17">
                <a:extLst>
                  <a:ext uri="{FF2B5EF4-FFF2-40B4-BE49-F238E27FC236}">
                    <a16:creationId xmlns:a16="http://schemas.microsoft.com/office/drawing/2014/main" id="{472312B5-8576-817A-F831-92A53489E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1612" y="4921869"/>
                <a:ext cx="3191431" cy="646331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9ACECFA-8EE7-F69E-4A7E-550F728E0F88}"/>
              </a:ext>
            </a:extLst>
          </p:cNvPr>
          <p:cNvSpPr txBox="1"/>
          <p:nvPr/>
        </p:nvSpPr>
        <p:spPr>
          <a:xfrm>
            <a:off x="594112" y="6008505"/>
            <a:ext cx="7495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RNNS are neural networks that process sequences</a:t>
            </a:r>
          </a:p>
        </p:txBody>
      </p:sp>
    </p:spTree>
    <p:extLst>
      <p:ext uri="{BB962C8B-B14F-4D97-AF65-F5344CB8AC3E}">
        <p14:creationId xmlns:p14="http://schemas.microsoft.com/office/powerpoint/2010/main" val="74511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2EF66-5856-7655-0B5E-B004E371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C8B201CE-19AD-FA71-558E-BB1F82267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D606553D-36AD-E28F-C7AC-932235F51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Recurrent neural network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58471C-59DE-4190-BD11-294BFE2D3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15" name="Text Box 17">
            <a:extLst>
              <a:ext uri="{FF2B5EF4-FFF2-40B4-BE49-F238E27FC236}">
                <a16:creationId xmlns:a16="http://schemas.microsoft.com/office/drawing/2014/main" id="{7F67C4A1-087C-6AAB-5600-88EA413C0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365" y="4530440"/>
            <a:ext cx="837508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In a basic RNN, information flows forward through the network as in an MLP</a:t>
            </a:r>
          </a:p>
          <a:p>
            <a:pPr eaLnBrk="1" hangingPunct="1"/>
            <a:endParaRPr lang="en-GB" altLang="en-US" sz="800" dirty="0">
              <a:latin typeface="Calibri" panose="020F0502020204030204" pitchFamily="34" charset="0"/>
            </a:endParaRPr>
          </a:p>
          <a:p>
            <a:pPr eaLnBrk="1" hangingPunct="1"/>
            <a:r>
              <a:rPr lang="en-GB" altLang="en-US" sz="2800" b="1" dirty="0">
                <a:latin typeface="Calibri" panose="020F0502020204030204" pitchFamily="34" charset="0"/>
              </a:rPr>
              <a:t>However</a:t>
            </a:r>
            <a:r>
              <a:rPr lang="en-GB" altLang="en-US" sz="2800" dirty="0">
                <a:latin typeface="Calibri" panose="020F0502020204030204" pitchFamily="34" charset="0"/>
              </a:rPr>
              <a:t>, the hidden units receive an additional input from themselves in the previous timestep</a:t>
            </a:r>
            <a:endParaRPr lang="en-US" altLang="en-US" sz="28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C9B01E4-95B9-BB6B-3855-6AD4F8C3ADE7}"/>
                  </a:ext>
                </a:extLst>
              </p:cNvPr>
              <p:cNvSpPr txBox="1"/>
              <p:nvPr/>
            </p:nvSpPr>
            <p:spPr>
              <a:xfrm>
                <a:off x="3696946" y="1638811"/>
                <a:ext cx="42396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𝑟𝑒𝑐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C9B01E4-95B9-BB6B-3855-6AD4F8C3A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946" y="1638811"/>
                <a:ext cx="4239686" cy="461665"/>
              </a:xfrm>
              <a:prstGeom prst="rect">
                <a:avLst/>
              </a:prstGeom>
              <a:blipFill>
                <a:blip r:embed="rId3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D75CE87-C38A-7D43-E2D3-2904C18943E3}"/>
              </a:ext>
            </a:extLst>
          </p:cNvPr>
          <p:cNvSpPr txBox="1"/>
          <p:nvPr/>
        </p:nvSpPr>
        <p:spPr>
          <a:xfrm>
            <a:off x="5945818" y="2469315"/>
            <a:ext cx="1231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“memory” weight matrix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115E0E-FF50-5E93-55EA-426FFE48FF1B}"/>
              </a:ext>
            </a:extLst>
          </p:cNvPr>
          <p:cNvCxnSpPr>
            <a:cxnSpLocks/>
          </p:cNvCxnSpPr>
          <p:nvPr/>
        </p:nvCxnSpPr>
        <p:spPr>
          <a:xfrm flipV="1">
            <a:off x="6561512" y="2142057"/>
            <a:ext cx="1" cy="32725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0EE676-7B11-B36E-A03F-5191E0A72186}"/>
              </a:ext>
            </a:extLst>
          </p:cNvPr>
          <p:cNvCxnSpPr>
            <a:cxnSpLocks/>
          </p:cNvCxnSpPr>
          <p:nvPr/>
        </p:nvCxnSpPr>
        <p:spPr>
          <a:xfrm flipH="1" flipV="1">
            <a:off x="7508145" y="2177725"/>
            <a:ext cx="284755" cy="31104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46AB964-1933-EEC4-EE71-FF3884937FDA}"/>
              </a:ext>
            </a:extLst>
          </p:cNvPr>
          <p:cNvSpPr txBox="1"/>
          <p:nvPr/>
        </p:nvSpPr>
        <p:spPr>
          <a:xfrm>
            <a:off x="7413791" y="2469315"/>
            <a:ext cx="1231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previous hidden unit activations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AD12936-FC7F-8A87-D683-2C1F720E3F04}"/>
              </a:ext>
            </a:extLst>
          </p:cNvPr>
          <p:cNvCxnSpPr>
            <a:cxnSpLocks/>
          </p:cNvCxnSpPr>
          <p:nvPr/>
        </p:nvCxnSpPr>
        <p:spPr>
          <a:xfrm flipV="1">
            <a:off x="5320661" y="2067564"/>
            <a:ext cx="277572" cy="31104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E8CB52A-F335-BD30-6873-46A2A476E852}"/>
              </a:ext>
            </a:extLst>
          </p:cNvPr>
          <p:cNvSpPr txBox="1"/>
          <p:nvPr/>
        </p:nvSpPr>
        <p:spPr>
          <a:xfrm>
            <a:off x="4655015" y="2361146"/>
            <a:ext cx="1231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current input</a:t>
            </a: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29D7CBAF-89E7-8A17-59D5-6759976D6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8067" y="2953059"/>
            <a:ext cx="513159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this allows the network to make sequential predictions based on past information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E6A46A-3CED-B0C5-B9B3-86945902DC6C}"/>
              </a:ext>
            </a:extLst>
          </p:cNvPr>
          <p:cNvSpPr/>
          <p:nvPr/>
        </p:nvSpPr>
        <p:spPr>
          <a:xfrm>
            <a:off x="1660320" y="1318020"/>
            <a:ext cx="1045028" cy="53016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91BC7FEE-083D-772E-3F61-65B8B142EFC4}"/>
                  </a:ext>
                </a:extLst>
              </p:cNvPr>
              <p:cNvSpPr/>
              <p:nvPr/>
            </p:nvSpPr>
            <p:spPr>
              <a:xfrm>
                <a:off x="1649101" y="3677379"/>
                <a:ext cx="1067466" cy="530166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91BC7FEE-083D-772E-3F61-65B8B142EF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101" y="3677379"/>
                <a:ext cx="1067466" cy="53016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43536599-34AB-E3BC-EA4F-6BF7FBD4582F}"/>
              </a:ext>
            </a:extLst>
          </p:cNvPr>
          <p:cNvSpPr/>
          <p:nvPr/>
        </p:nvSpPr>
        <p:spPr>
          <a:xfrm>
            <a:off x="947437" y="2214450"/>
            <a:ext cx="712883" cy="1055790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38CAD515-37F4-E980-CB24-3F9C45C58B0B}"/>
                  </a:ext>
                </a:extLst>
              </p:cNvPr>
              <p:cNvSpPr/>
              <p:nvPr/>
            </p:nvSpPr>
            <p:spPr>
              <a:xfrm>
                <a:off x="1434232" y="2496604"/>
                <a:ext cx="1497204" cy="530166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38CAD515-37F4-E980-CB24-3F9C45C58B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232" y="2496604"/>
                <a:ext cx="1497204" cy="53016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riangle 7">
            <a:extLst>
              <a:ext uri="{FF2B5EF4-FFF2-40B4-BE49-F238E27FC236}">
                <a16:creationId xmlns:a16="http://schemas.microsoft.com/office/drawing/2014/main" id="{A2059593-EA08-A140-577E-92A488C5DB06}"/>
              </a:ext>
            </a:extLst>
          </p:cNvPr>
          <p:cNvSpPr/>
          <p:nvPr/>
        </p:nvSpPr>
        <p:spPr>
          <a:xfrm rot="2018810">
            <a:off x="1476312" y="2997440"/>
            <a:ext cx="160773" cy="200502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7E9EA5-1FB6-C6BC-55DA-07C60FDD0DF1}"/>
              </a:ext>
            </a:extLst>
          </p:cNvPr>
          <p:cNvCxnSpPr>
            <a:stCxn id="5" idx="0"/>
            <a:endCxn id="7" idx="2"/>
          </p:cNvCxnSpPr>
          <p:nvPr/>
        </p:nvCxnSpPr>
        <p:spPr>
          <a:xfrm flipV="1">
            <a:off x="2182834" y="3026770"/>
            <a:ext cx="0" cy="65060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7DD35F-928C-16F3-F32C-8C12E9A5FF71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2182834" y="1848186"/>
            <a:ext cx="0" cy="64841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B22957-45D5-84AE-08F8-198B9764C334}"/>
                  </a:ext>
                </a:extLst>
              </p:cNvPr>
              <p:cNvSpPr txBox="1"/>
              <p:nvPr/>
            </p:nvSpPr>
            <p:spPr>
              <a:xfrm>
                <a:off x="487317" y="1922062"/>
                <a:ext cx="4898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𝑟𝑒𝑠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B22957-45D5-84AE-08F8-198B9764C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17" y="1922062"/>
                <a:ext cx="489848" cy="369332"/>
              </a:xfrm>
              <a:prstGeom prst="rect">
                <a:avLst/>
              </a:prstGeom>
              <a:blipFill>
                <a:blip r:embed="rId6"/>
                <a:stretch>
                  <a:fillRect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F70A08-AA0B-269B-D7F8-089D4C58723C}"/>
                  </a:ext>
                </a:extLst>
              </p:cNvPr>
              <p:cNvSpPr txBox="1"/>
              <p:nvPr/>
            </p:nvSpPr>
            <p:spPr>
              <a:xfrm>
                <a:off x="2182834" y="3181546"/>
                <a:ext cx="4898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F70A08-AA0B-269B-D7F8-089D4C587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834" y="3181546"/>
                <a:ext cx="489848" cy="369332"/>
              </a:xfrm>
              <a:prstGeom prst="rect">
                <a:avLst/>
              </a:prstGeom>
              <a:blipFill>
                <a:blip r:embed="rId7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6EF84F-6311-2B73-760E-724CD8AA0376}"/>
                  </a:ext>
                </a:extLst>
              </p:cNvPr>
              <p:cNvSpPr txBox="1"/>
              <p:nvPr/>
            </p:nvSpPr>
            <p:spPr>
              <a:xfrm>
                <a:off x="2164411" y="1974687"/>
                <a:ext cx="4898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6EF84F-6311-2B73-760E-724CD8AA0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411" y="1974687"/>
                <a:ext cx="489848" cy="369332"/>
              </a:xfrm>
              <a:prstGeom prst="rect">
                <a:avLst/>
              </a:prstGeom>
              <a:blipFill>
                <a:blip r:embed="rId8"/>
                <a:stretch>
                  <a:fillRect r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4C2F63-B828-C8FF-A55E-C52C3A88D642}"/>
                  </a:ext>
                </a:extLst>
              </p:cNvPr>
              <p:cNvSpPr txBox="1"/>
              <p:nvPr/>
            </p:nvSpPr>
            <p:spPr>
              <a:xfrm>
                <a:off x="2080253" y="1437674"/>
                <a:ext cx="3290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4C2F63-B828-C8FF-A55E-C52C3A88D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253" y="1437674"/>
                <a:ext cx="329082" cy="369332"/>
              </a:xfrm>
              <a:prstGeom prst="rect">
                <a:avLst/>
              </a:prstGeom>
              <a:blipFill>
                <a:blip r:embed="rId9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524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3C073A-4A1E-E147-BAD3-D1F741AD9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838471">
            <a:off x="3680710" y="1149578"/>
            <a:ext cx="2281926" cy="2357431"/>
          </a:xfrm>
          <a:prstGeom prst="rect">
            <a:avLst/>
          </a:prstGeom>
        </p:spPr>
      </p:pic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Neural evidence for recurrent dynamics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6D912E-F4CD-674B-96DF-01C9A31DD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11" y="1387703"/>
            <a:ext cx="3309598" cy="188117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0E3672-6731-C54E-9889-3D916317F6C1}"/>
              </a:ext>
            </a:extLst>
          </p:cNvPr>
          <p:cNvSpPr/>
          <p:nvPr/>
        </p:nvSpPr>
        <p:spPr>
          <a:xfrm>
            <a:off x="5107022" y="1451231"/>
            <a:ext cx="1344134" cy="19665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47DD9-A75C-4046-9104-AD1ECFFBA7EB}"/>
              </a:ext>
            </a:extLst>
          </p:cNvPr>
          <p:cNvSpPr txBox="1"/>
          <p:nvPr/>
        </p:nvSpPr>
        <p:spPr>
          <a:xfrm>
            <a:off x="5320548" y="2331043"/>
            <a:ext cx="3761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Monkeys judged whether two motion directions came from the same category (match to sample task). RNN trained to recreate neural outputs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E1275E5B-D823-ED4C-A3E1-5B82A236C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4060" y="6488668"/>
            <a:ext cx="28579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 err="1">
                <a:latin typeface="Calibri" panose="020F0502020204030204" pitchFamily="34" charset="0"/>
              </a:rPr>
              <a:t>Chaisangmongkon</a:t>
            </a:r>
            <a:r>
              <a:rPr lang="en-GB" altLang="en-US" sz="1800" dirty="0">
                <a:latin typeface="Calibri" panose="020F0502020204030204" pitchFamily="34" charset="0"/>
              </a:rPr>
              <a:t> et al 2017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FAAF6E-3C41-294D-AFB3-832DBD5B3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44" y="3635429"/>
            <a:ext cx="6088568" cy="295597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EF4DB24-E219-4B43-961F-B372A8921378}"/>
              </a:ext>
            </a:extLst>
          </p:cNvPr>
          <p:cNvSpPr/>
          <p:nvPr/>
        </p:nvSpPr>
        <p:spPr>
          <a:xfrm>
            <a:off x="199139" y="3604072"/>
            <a:ext cx="260345" cy="2329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689BC9-DF2E-D744-9F50-9A7A85E3F290}"/>
              </a:ext>
            </a:extLst>
          </p:cNvPr>
          <p:cNvSpPr/>
          <p:nvPr/>
        </p:nvSpPr>
        <p:spPr>
          <a:xfrm>
            <a:off x="288417" y="5190547"/>
            <a:ext cx="260345" cy="2329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1BB9AA-BB1F-B14F-9E39-E2739DAD80CB}"/>
              </a:ext>
            </a:extLst>
          </p:cNvPr>
          <p:cNvSpPr txBox="1"/>
          <p:nvPr/>
        </p:nvSpPr>
        <p:spPr>
          <a:xfrm>
            <a:off x="6376985" y="3859761"/>
            <a:ext cx="23997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RNN recreates the heterogenous selectivity during the delay period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704C31-64C4-3C44-B1A5-BB25648D6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89" y="1195105"/>
            <a:ext cx="2486862" cy="111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545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State space analysis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C85B41F-43F2-2643-A2B8-707B0048A42E}"/>
              </a:ext>
            </a:extLst>
          </p:cNvPr>
          <p:cNvSpPr txBox="1"/>
          <p:nvPr/>
        </p:nvSpPr>
        <p:spPr>
          <a:xfrm>
            <a:off x="5929184" y="1369160"/>
            <a:ext cx="3048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Neural state space analysis visualizes multivariate trajectories in a low dimensional space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604285-FF85-CC44-8515-35D5CDBDA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5651407"/>
            <a:ext cx="1506306" cy="70011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70E6DA2-0B2C-E145-B7DC-967F409AB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459779">
            <a:off x="472755" y="3793949"/>
            <a:ext cx="1495699" cy="113503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A35A5E1-719C-0343-9C50-DFA5025374A7}"/>
              </a:ext>
            </a:extLst>
          </p:cNvPr>
          <p:cNvSpPr txBox="1"/>
          <p:nvPr/>
        </p:nvSpPr>
        <p:spPr>
          <a:xfrm>
            <a:off x="368301" y="3492003"/>
            <a:ext cx="55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4430B0-621B-364A-9A67-A992FB37A759}"/>
              </a:ext>
            </a:extLst>
          </p:cNvPr>
          <p:cNvSpPr txBox="1"/>
          <p:nvPr/>
        </p:nvSpPr>
        <p:spPr>
          <a:xfrm>
            <a:off x="152995" y="5155808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model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0F1DF6-45ED-0A4B-8B59-1D9C0CA9BF25}"/>
              </a:ext>
            </a:extLst>
          </p:cNvPr>
          <p:cNvSpPr txBox="1"/>
          <p:nvPr/>
        </p:nvSpPr>
        <p:spPr>
          <a:xfrm>
            <a:off x="731527" y="6367586"/>
            <a:ext cx="10839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sample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06C5DDA-73E2-654D-89A5-3D0ED94FE4C9}"/>
              </a:ext>
            </a:extLst>
          </p:cNvPr>
          <p:cNvGrpSpPr/>
          <p:nvPr/>
        </p:nvGrpSpPr>
        <p:grpSpPr>
          <a:xfrm>
            <a:off x="2159160" y="3481044"/>
            <a:ext cx="4825680" cy="3376956"/>
            <a:chOff x="4148937" y="3340389"/>
            <a:chExt cx="4825680" cy="3376956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E299DFE4-9522-5049-8D62-28FE6E4D9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65389" y="3525055"/>
              <a:ext cx="2111307" cy="1354894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52D7C416-0028-9E42-813A-568034B79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27044" y="3492003"/>
              <a:ext cx="2053121" cy="1329957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196A36B-1896-FC47-8706-A5D2BF4C5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02912" y="4879949"/>
              <a:ext cx="2028185" cy="1504514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0DBA4E22-0EC7-E04F-A1A7-584DFE0E8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81515" y="4892649"/>
              <a:ext cx="1936750" cy="14546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410C67-AA69-1249-A8D8-E1E472BB67FF}"/>
                </a:ext>
              </a:extLst>
            </p:cNvPr>
            <p:cNvSpPr txBox="1"/>
            <p:nvPr/>
          </p:nvSpPr>
          <p:spPr>
            <a:xfrm>
              <a:off x="5269862" y="3340389"/>
              <a:ext cx="8832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comp.1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238535D-5BDE-554C-87EE-453C98FD6606}"/>
                </a:ext>
              </a:extLst>
            </p:cNvPr>
            <p:cNvSpPr txBox="1"/>
            <p:nvPr/>
          </p:nvSpPr>
          <p:spPr>
            <a:xfrm>
              <a:off x="7171676" y="3340389"/>
              <a:ext cx="8832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comp.2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37DDE97-F208-8F4E-869A-1E51D2E548B1}"/>
                </a:ext>
              </a:extLst>
            </p:cNvPr>
            <p:cNvSpPr txBox="1"/>
            <p:nvPr/>
          </p:nvSpPr>
          <p:spPr>
            <a:xfrm rot="16200000">
              <a:off x="8651418" y="3767077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D43C412-9126-0D41-985C-051BB0161ED2}"/>
                </a:ext>
              </a:extLst>
            </p:cNvPr>
            <p:cNvSpPr txBox="1"/>
            <p:nvPr/>
          </p:nvSpPr>
          <p:spPr>
            <a:xfrm rot="16200000">
              <a:off x="8651419" y="5243272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99A130B-9D20-E846-ADF2-3E35171D4A3F}"/>
                </a:ext>
              </a:extLst>
            </p:cNvPr>
            <p:cNvSpPr txBox="1"/>
            <p:nvPr/>
          </p:nvSpPr>
          <p:spPr>
            <a:xfrm rot="16200000">
              <a:off x="3552300" y="4700540"/>
              <a:ext cx="16549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</a:rPr>
                <a:t>activity rate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063B398-73BE-D449-B4C2-8B18E991B6FD}"/>
                </a:ext>
              </a:extLst>
            </p:cNvPr>
            <p:cNvSpPr txBox="1"/>
            <p:nvPr/>
          </p:nvSpPr>
          <p:spPr>
            <a:xfrm>
              <a:off x="6334496" y="6255680"/>
              <a:ext cx="7569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</a:rPr>
                <a:t>time</a:t>
              </a:r>
            </a:p>
          </p:txBody>
        </p:sp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D24DC9E8-4AED-FC46-A1C8-481255C07CF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257"/>
          <a:stretch/>
        </p:blipFill>
        <p:spPr>
          <a:xfrm rot="20840331">
            <a:off x="7071492" y="5135020"/>
            <a:ext cx="1375764" cy="1084972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A5189D06-3C87-AF4D-ACC4-A1F004B865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402328">
            <a:off x="6935363" y="3552173"/>
            <a:ext cx="1599648" cy="1431853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DDE3C487-10C0-1F49-8F5E-3ABF237BD16C}"/>
              </a:ext>
            </a:extLst>
          </p:cNvPr>
          <p:cNvSpPr txBox="1"/>
          <p:nvPr/>
        </p:nvSpPr>
        <p:spPr>
          <a:xfrm>
            <a:off x="7453347" y="6390078"/>
            <a:ext cx="657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test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E794CDEF-062F-0545-B0D7-CC31A47C56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530" y="1167017"/>
            <a:ext cx="5479754" cy="211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65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851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Persistent delay-period activity</a:t>
            </a:r>
          </a:p>
        </p:txBody>
      </p:sp>
      <p:sp>
        <p:nvSpPr>
          <p:cNvPr id="35844" name="Text Box 11">
            <a:extLst>
              <a:ext uri="{FF2B5EF4-FFF2-40B4-BE49-F238E27FC236}">
                <a16:creationId xmlns:a16="http://schemas.microsoft.com/office/drawing/2014/main" id="{F45D0E51-506E-584B-A88D-11CD2C5FB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829" y="6488668"/>
            <a:ext cx="26956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>
                <a:latin typeface="Calibri" panose="020F0502020204030204" pitchFamily="34" charset="0"/>
              </a:rPr>
              <a:t>e.g. Goldman-</a:t>
            </a:r>
            <a:r>
              <a:rPr lang="en-GB" altLang="en-US" sz="1800" dirty="0" err="1">
                <a:latin typeface="Calibri" panose="020F0502020204030204" pitchFamily="34" charset="0"/>
              </a:rPr>
              <a:t>Rakic</a:t>
            </a:r>
            <a:r>
              <a:rPr lang="en-GB" altLang="en-US" sz="1800" dirty="0">
                <a:latin typeface="Calibri" panose="020F0502020204030204" pitchFamily="34" charset="0"/>
              </a:rPr>
              <a:t>, </a:t>
            </a:r>
            <a:r>
              <a:rPr lang="en-GB" altLang="en-US" sz="1800" dirty="0" err="1">
                <a:latin typeface="Calibri" panose="020F0502020204030204" pitchFamily="34" charset="0"/>
              </a:rPr>
              <a:t>Fuster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D1751F1-B939-A740-8538-F5090734A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43" y="1866364"/>
            <a:ext cx="3523768" cy="2845860"/>
          </a:xfrm>
          <a:prstGeom prst="rect">
            <a:avLst/>
          </a:prstGeom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654AAF03-2F4A-0A41-84A1-78C3BD008D0F}"/>
              </a:ext>
            </a:extLst>
          </p:cNvPr>
          <p:cNvSpPr/>
          <p:nvPr/>
        </p:nvSpPr>
        <p:spPr>
          <a:xfrm>
            <a:off x="2287434" y="2015788"/>
            <a:ext cx="1460500" cy="914400"/>
          </a:xfrm>
          <a:custGeom>
            <a:avLst/>
            <a:gdLst>
              <a:gd name="connsiteX0" fmla="*/ 76200 w 1460500"/>
              <a:gd name="connsiteY0" fmla="*/ 914400 h 914400"/>
              <a:gd name="connsiteX1" fmla="*/ 0 w 1460500"/>
              <a:gd name="connsiteY1" fmla="*/ 812800 h 914400"/>
              <a:gd name="connsiteX2" fmla="*/ 12700 w 1460500"/>
              <a:gd name="connsiteY2" fmla="*/ 749300 h 914400"/>
              <a:gd name="connsiteX3" fmla="*/ 0 w 1460500"/>
              <a:gd name="connsiteY3" fmla="*/ 635000 h 914400"/>
              <a:gd name="connsiteX4" fmla="*/ 50800 w 1460500"/>
              <a:gd name="connsiteY4" fmla="*/ 533400 h 914400"/>
              <a:gd name="connsiteX5" fmla="*/ 139700 w 1460500"/>
              <a:gd name="connsiteY5" fmla="*/ 419100 h 914400"/>
              <a:gd name="connsiteX6" fmla="*/ 165100 w 1460500"/>
              <a:gd name="connsiteY6" fmla="*/ 355600 h 914400"/>
              <a:gd name="connsiteX7" fmla="*/ 203200 w 1460500"/>
              <a:gd name="connsiteY7" fmla="*/ 292100 h 914400"/>
              <a:gd name="connsiteX8" fmla="*/ 203200 w 1460500"/>
              <a:gd name="connsiteY8" fmla="*/ 292100 h 914400"/>
              <a:gd name="connsiteX9" fmla="*/ 393700 w 1460500"/>
              <a:gd name="connsiteY9" fmla="*/ 165100 h 914400"/>
              <a:gd name="connsiteX10" fmla="*/ 457200 w 1460500"/>
              <a:gd name="connsiteY10" fmla="*/ 139700 h 914400"/>
              <a:gd name="connsiteX11" fmla="*/ 546100 w 1460500"/>
              <a:gd name="connsiteY11" fmla="*/ 63500 h 914400"/>
              <a:gd name="connsiteX12" fmla="*/ 622300 w 1460500"/>
              <a:gd name="connsiteY12" fmla="*/ 12700 h 914400"/>
              <a:gd name="connsiteX13" fmla="*/ 673100 w 1460500"/>
              <a:gd name="connsiteY13" fmla="*/ 0 h 914400"/>
              <a:gd name="connsiteX14" fmla="*/ 749300 w 1460500"/>
              <a:gd name="connsiteY14" fmla="*/ 0 h 914400"/>
              <a:gd name="connsiteX15" fmla="*/ 812800 w 1460500"/>
              <a:gd name="connsiteY15" fmla="*/ 12700 h 914400"/>
              <a:gd name="connsiteX16" fmla="*/ 876300 w 1460500"/>
              <a:gd name="connsiteY16" fmla="*/ 38100 h 914400"/>
              <a:gd name="connsiteX17" fmla="*/ 927100 w 1460500"/>
              <a:gd name="connsiteY17" fmla="*/ 76200 h 914400"/>
              <a:gd name="connsiteX18" fmla="*/ 1003300 w 1460500"/>
              <a:gd name="connsiteY18" fmla="*/ 101600 h 914400"/>
              <a:gd name="connsiteX19" fmla="*/ 1104900 w 1460500"/>
              <a:gd name="connsiteY19" fmla="*/ 177800 h 914400"/>
              <a:gd name="connsiteX20" fmla="*/ 1155700 w 1460500"/>
              <a:gd name="connsiteY20" fmla="*/ 215900 h 914400"/>
              <a:gd name="connsiteX21" fmla="*/ 1193800 w 1460500"/>
              <a:gd name="connsiteY21" fmla="*/ 241300 h 914400"/>
              <a:gd name="connsiteX22" fmla="*/ 1206500 w 1460500"/>
              <a:gd name="connsiteY22" fmla="*/ 292100 h 914400"/>
              <a:gd name="connsiteX23" fmla="*/ 1231900 w 1460500"/>
              <a:gd name="connsiteY23" fmla="*/ 330200 h 914400"/>
              <a:gd name="connsiteX24" fmla="*/ 1270000 w 1460500"/>
              <a:gd name="connsiteY24" fmla="*/ 355600 h 914400"/>
              <a:gd name="connsiteX25" fmla="*/ 1320800 w 1460500"/>
              <a:gd name="connsiteY25" fmla="*/ 393700 h 914400"/>
              <a:gd name="connsiteX26" fmla="*/ 1384300 w 1460500"/>
              <a:gd name="connsiteY26" fmla="*/ 431800 h 914400"/>
              <a:gd name="connsiteX27" fmla="*/ 1409700 w 1460500"/>
              <a:gd name="connsiteY27" fmla="*/ 482600 h 914400"/>
              <a:gd name="connsiteX28" fmla="*/ 1460500 w 1460500"/>
              <a:gd name="connsiteY28" fmla="*/ 558800 h 914400"/>
              <a:gd name="connsiteX29" fmla="*/ 1397000 w 1460500"/>
              <a:gd name="connsiteY29" fmla="*/ 558800 h 914400"/>
              <a:gd name="connsiteX30" fmla="*/ 1257300 w 1460500"/>
              <a:gd name="connsiteY30" fmla="*/ 558800 h 914400"/>
              <a:gd name="connsiteX31" fmla="*/ 1181100 w 1460500"/>
              <a:gd name="connsiteY31" fmla="*/ 546100 h 914400"/>
              <a:gd name="connsiteX32" fmla="*/ 1054100 w 1460500"/>
              <a:gd name="connsiteY32" fmla="*/ 558800 h 914400"/>
              <a:gd name="connsiteX33" fmla="*/ 1054100 w 1460500"/>
              <a:gd name="connsiteY33" fmla="*/ 558800 h 914400"/>
              <a:gd name="connsiteX34" fmla="*/ 901700 w 1460500"/>
              <a:gd name="connsiteY34" fmla="*/ 571500 h 914400"/>
              <a:gd name="connsiteX35" fmla="*/ 762000 w 1460500"/>
              <a:gd name="connsiteY35" fmla="*/ 584200 h 914400"/>
              <a:gd name="connsiteX36" fmla="*/ 698500 w 1460500"/>
              <a:gd name="connsiteY36" fmla="*/ 584200 h 914400"/>
              <a:gd name="connsiteX37" fmla="*/ 660400 w 1460500"/>
              <a:gd name="connsiteY37" fmla="*/ 584200 h 914400"/>
              <a:gd name="connsiteX38" fmla="*/ 596900 w 1460500"/>
              <a:gd name="connsiteY38" fmla="*/ 635000 h 914400"/>
              <a:gd name="connsiteX39" fmla="*/ 546100 w 1460500"/>
              <a:gd name="connsiteY39" fmla="*/ 698500 h 914400"/>
              <a:gd name="connsiteX40" fmla="*/ 469900 w 1460500"/>
              <a:gd name="connsiteY40" fmla="*/ 749300 h 914400"/>
              <a:gd name="connsiteX41" fmla="*/ 431800 w 1460500"/>
              <a:gd name="connsiteY41" fmla="*/ 787400 h 914400"/>
              <a:gd name="connsiteX42" fmla="*/ 368300 w 1460500"/>
              <a:gd name="connsiteY42" fmla="*/ 800100 h 914400"/>
              <a:gd name="connsiteX43" fmla="*/ 254000 w 1460500"/>
              <a:gd name="connsiteY43" fmla="*/ 812800 h 914400"/>
              <a:gd name="connsiteX44" fmla="*/ 190500 w 1460500"/>
              <a:gd name="connsiteY44" fmla="*/ 825500 h 914400"/>
              <a:gd name="connsiteX45" fmla="*/ 165100 w 1460500"/>
              <a:gd name="connsiteY45" fmla="*/ 863600 h 914400"/>
              <a:gd name="connsiteX46" fmla="*/ 127000 w 1460500"/>
              <a:gd name="connsiteY46" fmla="*/ 889000 h 914400"/>
              <a:gd name="connsiteX47" fmla="*/ 76200 w 1460500"/>
              <a:gd name="connsiteY47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460500" h="914400">
                <a:moveTo>
                  <a:pt x="76200" y="914400"/>
                </a:moveTo>
                <a:lnTo>
                  <a:pt x="0" y="812800"/>
                </a:lnTo>
                <a:lnTo>
                  <a:pt x="12700" y="749300"/>
                </a:lnTo>
                <a:lnTo>
                  <a:pt x="0" y="635000"/>
                </a:lnTo>
                <a:lnTo>
                  <a:pt x="50800" y="533400"/>
                </a:lnTo>
                <a:lnTo>
                  <a:pt x="139700" y="419100"/>
                </a:lnTo>
                <a:lnTo>
                  <a:pt x="165100" y="355600"/>
                </a:lnTo>
                <a:lnTo>
                  <a:pt x="203200" y="292100"/>
                </a:lnTo>
                <a:lnTo>
                  <a:pt x="203200" y="292100"/>
                </a:lnTo>
                <a:lnTo>
                  <a:pt x="393700" y="165100"/>
                </a:lnTo>
                <a:lnTo>
                  <a:pt x="457200" y="139700"/>
                </a:lnTo>
                <a:lnTo>
                  <a:pt x="546100" y="63500"/>
                </a:lnTo>
                <a:lnTo>
                  <a:pt x="622300" y="12700"/>
                </a:lnTo>
                <a:lnTo>
                  <a:pt x="673100" y="0"/>
                </a:lnTo>
                <a:lnTo>
                  <a:pt x="749300" y="0"/>
                </a:lnTo>
                <a:lnTo>
                  <a:pt x="812800" y="12700"/>
                </a:lnTo>
                <a:lnTo>
                  <a:pt x="876300" y="38100"/>
                </a:lnTo>
                <a:lnTo>
                  <a:pt x="927100" y="76200"/>
                </a:lnTo>
                <a:lnTo>
                  <a:pt x="1003300" y="101600"/>
                </a:lnTo>
                <a:lnTo>
                  <a:pt x="1104900" y="177800"/>
                </a:lnTo>
                <a:lnTo>
                  <a:pt x="1155700" y="215900"/>
                </a:lnTo>
                <a:lnTo>
                  <a:pt x="1193800" y="241300"/>
                </a:lnTo>
                <a:lnTo>
                  <a:pt x="1206500" y="292100"/>
                </a:lnTo>
                <a:lnTo>
                  <a:pt x="1231900" y="330200"/>
                </a:lnTo>
                <a:lnTo>
                  <a:pt x="1270000" y="355600"/>
                </a:lnTo>
                <a:lnTo>
                  <a:pt x="1320800" y="393700"/>
                </a:lnTo>
                <a:lnTo>
                  <a:pt x="1384300" y="431800"/>
                </a:lnTo>
                <a:lnTo>
                  <a:pt x="1409700" y="482600"/>
                </a:lnTo>
                <a:lnTo>
                  <a:pt x="1460500" y="558800"/>
                </a:lnTo>
                <a:lnTo>
                  <a:pt x="1397000" y="558800"/>
                </a:lnTo>
                <a:lnTo>
                  <a:pt x="1257300" y="558800"/>
                </a:lnTo>
                <a:lnTo>
                  <a:pt x="1181100" y="546100"/>
                </a:lnTo>
                <a:lnTo>
                  <a:pt x="1054100" y="558800"/>
                </a:lnTo>
                <a:lnTo>
                  <a:pt x="1054100" y="558800"/>
                </a:lnTo>
                <a:lnTo>
                  <a:pt x="901700" y="571500"/>
                </a:lnTo>
                <a:lnTo>
                  <a:pt x="762000" y="584200"/>
                </a:lnTo>
                <a:lnTo>
                  <a:pt x="698500" y="584200"/>
                </a:lnTo>
                <a:lnTo>
                  <a:pt x="660400" y="584200"/>
                </a:lnTo>
                <a:lnTo>
                  <a:pt x="596900" y="635000"/>
                </a:lnTo>
                <a:lnTo>
                  <a:pt x="546100" y="698500"/>
                </a:lnTo>
                <a:lnTo>
                  <a:pt x="469900" y="749300"/>
                </a:lnTo>
                <a:lnTo>
                  <a:pt x="431800" y="787400"/>
                </a:lnTo>
                <a:lnTo>
                  <a:pt x="368300" y="800100"/>
                </a:lnTo>
                <a:lnTo>
                  <a:pt x="254000" y="812800"/>
                </a:lnTo>
                <a:lnTo>
                  <a:pt x="190500" y="825500"/>
                </a:lnTo>
                <a:lnTo>
                  <a:pt x="165100" y="863600"/>
                </a:lnTo>
                <a:lnTo>
                  <a:pt x="127000" y="889000"/>
                </a:lnTo>
                <a:lnTo>
                  <a:pt x="76200" y="914400"/>
                </a:lnTo>
                <a:close/>
              </a:path>
            </a:pathLst>
          </a:custGeom>
          <a:noFill/>
          <a:ln w="762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711F6AF-1AD5-3344-846A-126D3ED38911}"/>
              </a:ext>
            </a:extLst>
          </p:cNvPr>
          <p:cNvSpPr/>
          <p:nvPr/>
        </p:nvSpPr>
        <p:spPr>
          <a:xfrm>
            <a:off x="583659" y="1877438"/>
            <a:ext cx="2324911" cy="1848255"/>
          </a:xfrm>
          <a:custGeom>
            <a:avLst/>
            <a:gdLst>
              <a:gd name="connsiteX0" fmla="*/ 758758 w 2324911"/>
              <a:gd name="connsiteY0" fmla="*/ 1848255 h 1848255"/>
              <a:gd name="connsiteX1" fmla="*/ 525294 w 2324911"/>
              <a:gd name="connsiteY1" fmla="*/ 1848255 h 1848255"/>
              <a:gd name="connsiteX2" fmla="*/ 379379 w 2324911"/>
              <a:gd name="connsiteY2" fmla="*/ 1799617 h 1848255"/>
              <a:gd name="connsiteX3" fmla="*/ 291830 w 2324911"/>
              <a:gd name="connsiteY3" fmla="*/ 1731523 h 1848255"/>
              <a:gd name="connsiteX4" fmla="*/ 214009 w 2324911"/>
              <a:gd name="connsiteY4" fmla="*/ 1653702 h 1848255"/>
              <a:gd name="connsiteX5" fmla="*/ 126460 w 2324911"/>
              <a:gd name="connsiteY5" fmla="*/ 1556426 h 1848255"/>
              <a:gd name="connsiteX6" fmla="*/ 97277 w 2324911"/>
              <a:gd name="connsiteY6" fmla="*/ 1517515 h 1848255"/>
              <a:gd name="connsiteX7" fmla="*/ 77822 w 2324911"/>
              <a:gd name="connsiteY7" fmla="*/ 1449421 h 1848255"/>
              <a:gd name="connsiteX8" fmla="*/ 58366 w 2324911"/>
              <a:gd name="connsiteY8" fmla="*/ 1342417 h 1848255"/>
              <a:gd name="connsiteX9" fmla="*/ 38911 w 2324911"/>
              <a:gd name="connsiteY9" fmla="*/ 1303506 h 1848255"/>
              <a:gd name="connsiteX10" fmla="*/ 0 w 2324911"/>
              <a:gd name="connsiteY10" fmla="*/ 1245140 h 1848255"/>
              <a:gd name="connsiteX11" fmla="*/ 0 w 2324911"/>
              <a:gd name="connsiteY11" fmla="*/ 1186775 h 1848255"/>
              <a:gd name="connsiteX12" fmla="*/ 29183 w 2324911"/>
              <a:gd name="connsiteY12" fmla="*/ 1060315 h 1848255"/>
              <a:gd name="connsiteX13" fmla="*/ 38911 w 2324911"/>
              <a:gd name="connsiteY13" fmla="*/ 1011677 h 1848255"/>
              <a:gd name="connsiteX14" fmla="*/ 38911 w 2324911"/>
              <a:gd name="connsiteY14" fmla="*/ 1011677 h 1848255"/>
              <a:gd name="connsiteX15" fmla="*/ 19456 w 2324911"/>
              <a:gd name="connsiteY15" fmla="*/ 894945 h 1848255"/>
              <a:gd name="connsiteX16" fmla="*/ 68094 w 2324911"/>
              <a:gd name="connsiteY16" fmla="*/ 836579 h 1848255"/>
              <a:gd name="connsiteX17" fmla="*/ 68094 w 2324911"/>
              <a:gd name="connsiteY17" fmla="*/ 778213 h 1848255"/>
              <a:gd name="connsiteX18" fmla="*/ 116732 w 2324911"/>
              <a:gd name="connsiteY18" fmla="*/ 700392 h 1848255"/>
              <a:gd name="connsiteX19" fmla="*/ 184826 w 2324911"/>
              <a:gd name="connsiteY19" fmla="*/ 651753 h 1848255"/>
              <a:gd name="connsiteX20" fmla="*/ 204281 w 2324911"/>
              <a:gd name="connsiteY20" fmla="*/ 622570 h 1848255"/>
              <a:gd name="connsiteX21" fmla="*/ 252919 w 2324911"/>
              <a:gd name="connsiteY21" fmla="*/ 544749 h 1848255"/>
              <a:gd name="connsiteX22" fmla="*/ 340468 w 2324911"/>
              <a:gd name="connsiteY22" fmla="*/ 437745 h 1848255"/>
              <a:gd name="connsiteX23" fmla="*/ 408562 w 2324911"/>
              <a:gd name="connsiteY23" fmla="*/ 379379 h 1848255"/>
              <a:gd name="connsiteX24" fmla="*/ 505839 w 2324911"/>
              <a:gd name="connsiteY24" fmla="*/ 340468 h 1848255"/>
              <a:gd name="connsiteX25" fmla="*/ 622571 w 2324911"/>
              <a:gd name="connsiteY25" fmla="*/ 301557 h 1848255"/>
              <a:gd name="connsiteX26" fmla="*/ 710119 w 2324911"/>
              <a:gd name="connsiteY26" fmla="*/ 252919 h 1848255"/>
              <a:gd name="connsiteX27" fmla="*/ 768485 w 2324911"/>
              <a:gd name="connsiteY27" fmla="*/ 223736 h 1848255"/>
              <a:gd name="connsiteX28" fmla="*/ 846307 w 2324911"/>
              <a:gd name="connsiteY28" fmla="*/ 194553 h 1848255"/>
              <a:gd name="connsiteX29" fmla="*/ 982494 w 2324911"/>
              <a:gd name="connsiteY29" fmla="*/ 165370 h 1848255"/>
              <a:gd name="connsiteX30" fmla="*/ 1138137 w 2324911"/>
              <a:gd name="connsiteY30" fmla="*/ 97277 h 1848255"/>
              <a:gd name="connsiteX31" fmla="*/ 1274324 w 2324911"/>
              <a:gd name="connsiteY31" fmla="*/ 77821 h 1848255"/>
              <a:gd name="connsiteX32" fmla="*/ 1391056 w 2324911"/>
              <a:gd name="connsiteY32" fmla="*/ 48638 h 1848255"/>
              <a:gd name="connsiteX33" fmla="*/ 1536971 w 2324911"/>
              <a:gd name="connsiteY33" fmla="*/ 19455 h 1848255"/>
              <a:gd name="connsiteX34" fmla="*/ 1634247 w 2324911"/>
              <a:gd name="connsiteY34" fmla="*/ 19455 h 1848255"/>
              <a:gd name="connsiteX35" fmla="*/ 1634247 w 2324911"/>
              <a:gd name="connsiteY35" fmla="*/ 19455 h 1848255"/>
              <a:gd name="connsiteX36" fmla="*/ 1819073 w 2324911"/>
              <a:gd name="connsiteY36" fmla="*/ 29183 h 1848255"/>
              <a:gd name="connsiteX37" fmla="*/ 1848256 w 2324911"/>
              <a:gd name="connsiteY37" fmla="*/ 29183 h 1848255"/>
              <a:gd name="connsiteX38" fmla="*/ 1906622 w 2324911"/>
              <a:gd name="connsiteY38" fmla="*/ 9728 h 1848255"/>
              <a:gd name="connsiteX39" fmla="*/ 1994171 w 2324911"/>
              <a:gd name="connsiteY39" fmla="*/ 0 h 1848255"/>
              <a:gd name="connsiteX40" fmla="*/ 2120630 w 2324911"/>
              <a:gd name="connsiteY40" fmla="*/ 0 h 1848255"/>
              <a:gd name="connsiteX41" fmla="*/ 2237362 w 2324911"/>
              <a:gd name="connsiteY41" fmla="*/ 29183 h 1848255"/>
              <a:gd name="connsiteX42" fmla="*/ 2324911 w 2324911"/>
              <a:gd name="connsiteY42" fmla="*/ 58366 h 1848255"/>
              <a:gd name="connsiteX43" fmla="*/ 2324911 w 2324911"/>
              <a:gd name="connsiteY43" fmla="*/ 58366 h 1848255"/>
              <a:gd name="connsiteX44" fmla="*/ 2198451 w 2324911"/>
              <a:gd name="connsiteY44" fmla="*/ 136187 h 1848255"/>
              <a:gd name="connsiteX45" fmla="*/ 2120630 w 2324911"/>
              <a:gd name="connsiteY45" fmla="*/ 194553 h 1848255"/>
              <a:gd name="connsiteX46" fmla="*/ 2052537 w 2324911"/>
              <a:gd name="connsiteY46" fmla="*/ 243192 h 1848255"/>
              <a:gd name="connsiteX47" fmla="*/ 1964988 w 2324911"/>
              <a:gd name="connsiteY47" fmla="*/ 282102 h 1848255"/>
              <a:gd name="connsiteX48" fmla="*/ 1857983 w 2324911"/>
              <a:gd name="connsiteY48" fmla="*/ 359923 h 1848255"/>
              <a:gd name="connsiteX49" fmla="*/ 1819073 w 2324911"/>
              <a:gd name="connsiteY49" fmla="*/ 408562 h 1848255"/>
              <a:gd name="connsiteX50" fmla="*/ 1780162 w 2324911"/>
              <a:gd name="connsiteY50" fmla="*/ 486383 h 1848255"/>
              <a:gd name="connsiteX51" fmla="*/ 1702341 w 2324911"/>
              <a:gd name="connsiteY51" fmla="*/ 622570 h 1848255"/>
              <a:gd name="connsiteX52" fmla="*/ 1643975 w 2324911"/>
              <a:gd name="connsiteY52" fmla="*/ 700392 h 1848255"/>
              <a:gd name="connsiteX53" fmla="*/ 1643975 w 2324911"/>
              <a:gd name="connsiteY53" fmla="*/ 700392 h 1848255"/>
              <a:gd name="connsiteX54" fmla="*/ 1653702 w 2324911"/>
              <a:gd name="connsiteY54" fmla="*/ 836579 h 1848255"/>
              <a:gd name="connsiteX55" fmla="*/ 1653702 w 2324911"/>
              <a:gd name="connsiteY55" fmla="*/ 836579 h 1848255"/>
              <a:gd name="connsiteX56" fmla="*/ 1663430 w 2324911"/>
              <a:gd name="connsiteY56" fmla="*/ 992221 h 1848255"/>
              <a:gd name="connsiteX57" fmla="*/ 1663430 w 2324911"/>
              <a:gd name="connsiteY57" fmla="*/ 992221 h 1848255"/>
              <a:gd name="connsiteX58" fmla="*/ 1721796 w 2324911"/>
              <a:gd name="connsiteY58" fmla="*/ 1108953 h 1848255"/>
              <a:gd name="connsiteX59" fmla="*/ 1673158 w 2324911"/>
              <a:gd name="connsiteY59" fmla="*/ 1206230 h 1848255"/>
              <a:gd name="connsiteX60" fmla="*/ 1634247 w 2324911"/>
              <a:gd name="connsiteY60" fmla="*/ 1245140 h 1848255"/>
              <a:gd name="connsiteX61" fmla="*/ 1575881 w 2324911"/>
              <a:gd name="connsiteY61" fmla="*/ 1264596 h 1848255"/>
              <a:gd name="connsiteX62" fmla="*/ 1459149 w 2324911"/>
              <a:gd name="connsiteY62" fmla="*/ 1245140 h 1848255"/>
              <a:gd name="connsiteX63" fmla="*/ 1361873 w 2324911"/>
              <a:gd name="connsiteY63" fmla="*/ 1264596 h 1848255"/>
              <a:gd name="connsiteX64" fmla="*/ 1264596 w 2324911"/>
              <a:gd name="connsiteY64" fmla="*/ 1313234 h 1848255"/>
              <a:gd name="connsiteX65" fmla="*/ 1177047 w 2324911"/>
              <a:gd name="connsiteY65" fmla="*/ 1381328 h 1848255"/>
              <a:gd name="connsiteX66" fmla="*/ 1021405 w 2324911"/>
              <a:gd name="connsiteY66" fmla="*/ 1478604 h 1848255"/>
              <a:gd name="connsiteX67" fmla="*/ 924128 w 2324911"/>
              <a:gd name="connsiteY67" fmla="*/ 1575881 h 1848255"/>
              <a:gd name="connsiteX68" fmla="*/ 836579 w 2324911"/>
              <a:gd name="connsiteY68" fmla="*/ 1692613 h 1848255"/>
              <a:gd name="connsiteX69" fmla="*/ 797668 w 2324911"/>
              <a:gd name="connsiteY69" fmla="*/ 1809345 h 1848255"/>
              <a:gd name="connsiteX70" fmla="*/ 758758 w 2324911"/>
              <a:gd name="connsiteY70" fmla="*/ 1848255 h 1848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324911" h="1848255">
                <a:moveTo>
                  <a:pt x="758758" y="1848255"/>
                </a:moveTo>
                <a:lnTo>
                  <a:pt x="525294" y="1848255"/>
                </a:lnTo>
                <a:lnTo>
                  <a:pt x="379379" y="1799617"/>
                </a:lnTo>
                <a:lnTo>
                  <a:pt x="291830" y="1731523"/>
                </a:lnTo>
                <a:lnTo>
                  <a:pt x="214009" y="1653702"/>
                </a:lnTo>
                <a:lnTo>
                  <a:pt x="126460" y="1556426"/>
                </a:lnTo>
                <a:lnTo>
                  <a:pt x="97277" y="1517515"/>
                </a:lnTo>
                <a:lnTo>
                  <a:pt x="77822" y="1449421"/>
                </a:lnTo>
                <a:lnTo>
                  <a:pt x="58366" y="1342417"/>
                </a:lnTo>
                <a:lnTo>
                  <a:pt x="38911" y="1303506"/>
                </a:lnTo>
                <a:lnTo>
                  <a:pt x="0" y="1245140"/>
                </a:lnTo>
                <a:lnTo>
                  <a:pt x="0" y="1186775"/>
                </a:lnTo>
                <a:lnTo>
                  <a:pt x="29183" y="1060315"/>
                </a:lnTo>
                <a:lnTo>
                  <a:pt x="38911" y="1011677"/>
                </a:lnTo>
                <a:lnTo>
                  <a:pt x="38911" y="1011677"/>
                </a:lnTo>
                <a:lnTo>
                  <a:pt x="19456" y="894945"/>
                </a:lnTo>
                <a:lnTo>
                  <a:pt x="68094" y="836579"/>
                </a:lnTo>
                <a:lnTo>
                  <a:pt x="68094" y="778213"/>
                </a:lnTo>
                <a:lnTo>
                  <a:pt x="116732" y="700392"/>
                </a:lnTo>
                <a:lnTo>
                  <a:pt x="184826" y="651753"/>
                </a:lnTo>
                <a:lnTo>
                  <a:pt x="204281" y="622570"/>
                </a:lnTo>
                <a:lnTo>
                  <a:pt x="252919" y="544749"/>
                </a:lnTo>
                <a:lnTo>
                  <a:pt x="340468" y="437745"/>
                </a:lnTo>
                <a:lnTo>
                  <a:pt x="408562" y="379379"/>
                </a:lnTo>
                <a:lnTo>
                  <a:pt x="505839" y="340468"/>
                </a:lnTo>
                <a:lnTo>
                  <a:pt x="622571" y="301557"/>
                </a:lnTo>
                <a:lnTo>
                  <a:pt x="710119" y="252919"/>
                </a:lnTo>
                <a:lnTo>
                  <a:pt x="768485" y="223736"/>
                </a:lnTo>
                <a:lnTo>
                  <a:pt x="846307" y="194553"/>
                </a:lnTo>
                <a:lnTo>
                  <a:pt x="982494" y="165370"/>
                </a:lnTo>
                <a:lnTo>
                  <a:pt x="1138137" y="97277"/>
                </a:lnTo>
                <a:lnTo>
                  <a:pt x="1274324" y="77821"/>
                </a:lnTo>
                <a:lnTo>
                  <a:pt x="1391056" y="48638"/>
                </a:lnTo>
                <a:lnTo>
                  <a:pt x="1536971" y="19455"/>
                </a:lnTo>
                <a:lnTo>
                  <a:pt x="1634247" y="19455"/>
                </a:lnTo>
                <a:lnTo>
                  <a:pt x="1634247" y="19455"/>
                </a:lnTo>
                <a:lnTo>
                  <a:pt x="1819073" y="29183"/>
                </a:lnTo>
                <a:lnTo>
                  <a:pt x="1848256" y="29183"/>
                </a:lnTo>
                <a:lnTo>
                  <a:pt x="1906622" y="9728"/>
                </a:lnTo>
                <a:lnTo>
                  <a:pt x="1994171" y="0"/>
                </a:lnTo>
                <a:lnTo>
                  <a:pt x="2120630" y="0"/>
                </a:lnTo>
                <a:lnTo>
                  <a:pt x="2237362" y="29183"/>
                </a:lnTo>
                <a:lnTo>
                  <a:pt x="2324911" y="58366"/>
                </a:lnTo>
                <a:lnTo>
                  <a:pt x="2324911" y="58366"/>
                </a:lnTo>
                <a:lnTo>
                  <a:pt x="2198451" y="136187"/>
                </a:lnTo>
                <a:lnTo>
                  <a:pt x="2120630" y="194553"/>
                </a:lnTo>
                <a:lnTo>
                  <a:pt x="2052537" y="243192"/>
                </a:lnTo>
                <a:lnTo>
                  <a:pt x="1964988" y="282102"/>
                </a:lnTo>
                <a:lnTo>
                  <a:pt x="1857983" y="359923"/>
                </a:lnTo>
                <a:lnTo>
                  <a:pt x="1819073" y="408562"/>
                </a:lnTo>
                <a:lnTo>
                  <a:pt x="1780162" y="486383"/>
                </a:lnTo>
                <a:lnTo>
                  <a:pt x="1702341" y="622570"/>
                </a:lnTo>
                <a:lnTo>
                  <a:pt x="1643975" y="700392"/>
                </a:lnTo>
                <a:lnTo>
                  <a:pt x="1643975" y="700392"/>
                </a:lnTo>
                <a:lnTo>
                  <a:pt x="1653702" y="836579"/>
                </a:lnTo>
                <a:lnTo>
                  <a:pt x="1653702" y="836579"/>
                </a:lnTo>
                <a:lnTo>
                  <a:pt x="1663430" y="992221"/>
                </a:lnTo>
                <a:lnTo>
                  <a:pt x="1663430" y="992221"/>
                </a:lnTo>
                <a:lnTo>
                  <a:pt x="1721796" y="1108953"/>
                </a:lnTo>
                <a:lnTo>
                  <a:pt x="1673158" y="1206230"/>
                </a:lnTo>
                <a:lnTo>
                  <a:pt x="1634247" y="1245140"/>
                </a:lnTo>
                <a:lnTo>
                  <a:pt x="1575881" y="1264596"/>
                </a:lnTo>
                <a:lnTo>
                  <a:pt x="1459149" y="1245140"/>
                </a:lnTo>
                <a:lnTo>
                  <a:pt x="1361873" y="1264596"/>
                </a:lnTo>
                <a:lnTo>
                  <a:pt x="1264596" y="1313234"/>
                </a:lnTo>
                <a:lnTo>
                  <a:pt x="1177047" y="1381328"/>
                </a:lnTo>
                <a:lnTo>
                  <a:pt x="1021405" y="1478604"/>
                </a:lnTo>
                <a:lnTo>
                  <a:pt x="924128" y="1575881"/>
                </a:lnTo>
                <a:lnTo>
                  <a:pt x="836579" y="1692613"/>
                </a:lnTo>
                <a:lnTo>
                  <a:pt x="797668" y="1809345"/>
                </a:lnTo>
                <a:lnTo>
                  <a:pt x="758758" y="1848255"/>
                </a:lnTo>
                <a:close/>
              </a:path>
            </a:pathLst>
          </a:custGeom>
          <a:noFill/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07632-8E10-7E49-B943-3E2AD1AFFC4A}"/>
              </a:ext>
            </a:extLst>
          </p:cNvPr>
          <p:cNvSpPr txBox="1"/>
          <p:nvPr/>
        </p:nvSpPr>
        <p:spPr>
          <a:xfrm>
            <a:off x="3018332" y="1382829"/>
            <a:ext cx="1671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parietal cortex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BE0292-7BDE-1142-A4E8-6E0399D97FCE}"/>
              </a:ext>
            </a:extLst>
          </p:cNvPr>
          <p:cNvSpPr txBox="1"/>
          <p:nvPr/>
        </p:nvSpPr>
        <p:spPr>
          <a:xfrm>
            <a:off x="-135236" y="1266072"/>
            <a:ext cx="2059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prefrontal cortex</a:t>
            </a:r>
          </a:p>
        </p:txBody>
      </p:sp>
      <p:pic>
        <p:nvPicPr>
          <p:cNvPr id="13314" name="Picture 2" descr="Image result for neural delay period activity">
            <a:extLst>
              <a:ext uri="{FF2B5EF4-FFF2-40B4-BE49-F238E27FC236}">
                <a16:creationId xmlns:a16="http://schemas.microsoft.com/office/drawing/2014/main" id="{F6D0B953-2F2F-2A4F-941D-54BFF3BA2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654" y="1382829"/>
            <a:ext cx="3632642" cy="3531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17">
            <a:extLst>
              <a:ext uri="{FF2B5EF4-FFF2-40B4-BE49-F238E27FC236}">
                <a16:creationId xmlns:a16="http://schemas.microsoft.com/office/drawing/2014/main" id="{A14EC013-0C90-AA4D-B108-AC0632372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056" y="5299597"/>
            <a:ext cx="849788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Neurons in lateral parietal and prefrontal cortex display persistent, content-specific activity in working memory tasks</a:t>
            </a:r>
            <a:endParaRPr lang="en-US" alt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179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B763-B58B-C372-1B0A-DA41E31C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D39A9D7E-3290-AA4B-B34F-573D60A1C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CFCC5E91-1C5F-52CA-729A-A0C6E45F1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Attractors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031541-6494-2E2D-6037-87C00C55E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B243FDB4-4ECB-308E-95AE-3B19526C3590}"/>
              </a:ext>
            </a:extLst>
          </p:cNvPr>
          <p:cNvSpPr/>
          <p:nvPr/>
        </p:nvSpPr>
        <p:spPr>
          <a:xfrm>
            <a:off x="3547068" y="1064674"/>
            <a:ext cx="653143" cy="8337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diagram of a test&#10;&#10;AI-generated content may be incorrect.">
            <a:extLst>
              <a:ext uri="{FF2B5EF4-FFF2-40B4-BE49-F238E27FC236}">
                <a16:creationId xmlns:a16="http://schemas.microsoft.com/office/drawing/2014/main" id="{34C63355-0733-A4B2-DC0D-C0CA0FA30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15" y="1481551"/>
            <a:ext cx="3733800" cy="3746500"/>
          </a:xfrm>
          <a:prstGeom prst="rect">
            <a:avLst/>
          </a:prstGeom>
        </p:spPr>
      </p:pic>
      <p:sp>
        <p:nvSpPr>
          <p:cNvPr id="24" name="Text Box 17">
            <a:extLst>
              <a:ext uri="{FF2B5EF4-FFF2-40B4-BE49-F238E27FC236}">
                <a16:creationId xmlns:a16="http://schemas.microsoft.com/office/drawing/2014/main" id="{63683B94-BF85-4D27-8A79-86A5FAFBD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886" y="1394977"/>
            <a:ext cx="4099727" cy="513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Working memory often displays persistent activity, in which patterns are fixed over time</a:t>
            </a:r>
          </a:p>
          <a:p>
            <a:pPr eaLnBrk="1" hangingPunct="1"/>
            <a:endParaRPr lang="en-GB" altLang="en-US" sz="2800" dirty="0">
              <a:latin typeface="Calibri" panose="020F0502020204030204" pitchFamily="34" charset="0"/>
            </a:endParaRPr>
          </a:p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We can think of an RNN as a discrete time dynamical systems, and persistent activity indicates a </a:t>
            </a:r>
            <a:r>
              <a:rPr lang="en-GB" altLang="en-US" sz="2800" b="1" dirty="0">
                <a:latin typeface="Calibri" panose="020F0502020204030204" pitchFamily="34" charset="0"/>
              </a:rPr>
              <a:t>fixed point</a:t>
            </a:r>
          </a:p>
          <a:p>
            <a:pPr eaLnBrk="1" hangingPunct="1"/>
            <a:br>
              <a:rPr lang="en-GB" altLang="en-US" dirty="0">
                <a:latin typeface="Calibri" panose="020F0502020204030204" pitchFamily="34" charset="0"/>
              </a:rPr>
            </a:br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479F2F-FA79-D735-2448-18A31FA32A48}"/>
              </a:ext>
            </a:extLst>
          </p:cNvPr>
          <p:cNvSpPr txBox="1"/>
          <p:nvPr/>
        </p:nvSpPr>
        <p:spPr>
          <a:xfrm>
            <a:off x="1210826" y="5170669"/>
            <a:ext cx="2466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1800" dirty="0">
                <a:latin typeface="Calibri" panose="020F0502020204030204" pitchFamily="34" charset="0"/>
              </a:rPr>
              <a:t>Cross-time decoding</a:t>
            </a:r>
          </a:p>
          <a:p>
            <a:pPr algn="ctr"/>
            <a:r>
              <a:rPr lang="en-GB" altLang="en-US" sz="1800" dirty="0">
                <a:latin typeface="Calibri" panose="020F0502020204030204" pitchFamily="34" charset="0"/>
              </a:rPr>
              <a:t>(red = higher accuracy)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397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8CC9-8B7B-D390-300C-28FA06070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113C8DC0-D5EE-5FD4-CEC3-9E497BDE5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ACAD0E1A-3667-7BD6-5DB4-A8FE9CB65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Attractors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A7EC0E-2E96-7B33-C301-05BBD1556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58113E8-2217-4D2A-BAA9-283489D43177}"/>
              </a:ext>
            </a:extLst>
          </p:cNvPr>
          <p:cNvSpPr/>
          <p:nvPr/>
        </p:nvSpPr>
        <p:spPr>
          <a:xfrm>
            <a:off x="1176827" y="1619469"/>
            <a:ext cx="1282335" cy="53016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3154377-D9CE-996D-CB47-EAD6F960B022}"/>
              </a:ext>
            </a:extLst>
          </p:cNvPr>
          <p:cNvSpPr/>
          <p:nvPr/>
        </p:nvSpPr>
        <p:spPr>
          <a:xfrm>
            <a:off x="1176827" y="3978828"/>
            <a:ext cx="1282335" cy="53016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0CD40BE-E9B0-EC20-B353-0519E553596D}"/>
              </a:ext>
            </a:extLst>
          </p:cNvPr>
          <p:cNvSpPr/>
          <p:nvPr/>
        </p:nvSpPr>
        <p:spPr>
          <a:xfrm>
            <a:off x="585697" y="2515899"/>
            <a:ext cx="712883" cy="1055790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1188DD80-9917-997C-6E16-75148CFBA2F4}"/>
                  </a:ext>
                </a:extLst>
              </p:cNvPr>
              <p:cNvSpPr/>
              <p:nvPr/>
            </p:nvSpPr>
            <p:spPr>
              <a:xfrm>
                <a:off x="1072492" y="2798053"/>
                <a:ext cx="1497204" cy="530166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1188DD80-9917-997C-6E16-75148CFBA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492" y="2798053"/>
                <a:ext cx="1497204" cy="53016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riangle 5">
            <a:extLst>
              <a:ext uri="{FF2B5EF4-FFF2-40B4-BE49-F238E27FC236}">
                <a16:creationId xmlns:a16="http://schemas.microsoft.com/office/drawing/2014/main" id="{5C8EB01E-9CEF-1EA0-D0D9-FC7C835336A4}"/>
              </a:ext>
            </a:extLst>
          </p:cNvPr>
          <p:cNvSpPr/>
          <p:nvPr/>
        </p:nvSpPr>
        <p:spPr>
          <a:xfrm rot="2018810">
            <a:off x="1114572" y="3298889"/>
            <a:ext cx="160773" cy="200502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587455-7D33-9F8D-8F0C-EC495F3E5E2C}"/>
              </a:ext>
            </a:extLst>
          </p:cNvPr>
          <p:cNvCxnSpPr>
            <a:cxnSpLocks/>
            <a:stCxn id="3" idx="0"/>
            <a:endCxn id="5" idx="2"/>
          </p:cNvCxnSpPr>
          <p:nvPr/>
        </p:nvCxnSpPr>
        <p:spPr>
          <a:xfrm flipV="1">
            <a:off x="1817995" y="3328219"/>
            <a:ext cx="3099" cy="65060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B0B0BC-42D6-B1DE-3039-C13F6464B195}"/>
              </a:ext>
            </a:extLst>
          </p:cNvPr>
          <p:cNvCxnSpPr>
            <a:cxnSpLocks/>
            <a:stCxn id="5" idx="0"/>
            <a:endCxn id="2" idx="2"/>
          </p:cNvCxnSpPr>
          <p:nvPr/>
        </p:nvCxnSpPr>
        <p:spPr>
          <a:xfrm flipH="1" flipV="1">
            <a:off x="1817995" y="2149635"/>
            <a:ext cx="3099" cy="64841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2B75E8-1746-9004-8C5F-F00CC1402590}"/>
                  </a:ext>
                </a:extLst>
              </p:cNvPr>
              <p:cNvSpPr txBox="1"/>
              <p:nvPr/>
            </p:nvSpPr>
            <p:spPr>
              <a:xfrm>
                <a:off x="125577" y="2223511"/>
                <a:ext cx="4898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𝑟𝑒𝑠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2B75E8-1746-9004-8C5F-F00CC1402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77" y="2223511"/>
                <a:ext cx="489848" cy="369332"/>
              </a:xfrm>
              <a:prstGeom prst="rect">
                <a:avLst/>
              </a:prstGeom>
              <a:blipFill>
                <a:blip r:embed="rId4"/>
                <a:stretch>
                  <a:fillRect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8EB306-AAA8-3C07-19DD-266A983820AA}"/>
                  </a:ext>
                </a:extLst>
              </p:cNvPr>
              <p:cNvSpPr txBox="1"/>
              <p:nvPr/>
            </p:nvSpPr>
            <p:spPr>
              <a:xfrm>
                <a:off x="1821094" y="3482995"/>
                <a:ext cx="4898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8EB306-AAA8-3C07-19DD-266A98382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094" y="3482995"/>
                <a:ext cx="489848" cy="369332"/>
              </a:xfrm>
              <a:prstGeom prst="rect">
                <a:avLst/>
              </a:prstGeom>
              <a:blipFill>
                <a:blip r:embed="rId5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605D57-0672-DC42-47A2-706C7395415B}"/>
                  </a:ext>
                </a:extLst>
              </p:cNvPr>
              <p:cNvSpPr txBox="1"/>
              <p:nvPr/>
            </p:nvSpPr>
            <p:spPr>
              <a:xfrm>
                <a:off x="1802671" y="2276136"/>
                <a:ext cx="4898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605D57-0672-DC42-47A2-706C73954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671" y="2276136"/>
                <a:ext cx="489848" cy="369332"/>
              </a:xfrm>
              <a:prstGeom prst="rect">
                <a:avLst/>
              </a:prstGeom>
              <a:blipFill>
                <a:blip r:embed="rId6"/>
                <a:stretch>
                  <a:fillRect r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4EA4BB23-380C-9B3D-FE3A-CD92830CE1F9}"/>
              </a:ext>
            </a:extLst>
          </p:cNvPr>
          <p:cNvSpPr/>
          <p:nvPr/>
        </p:nvSpPr>
        <p:spPr>
          <a:xfrm>
            <a:off x="1239962" y="4064398"/>
            <a:ext cx="368018" cy="3590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0F8597-55E6-CE21-4EC4-AF377A98EEBD}"/>
              </a:ext>
            </a:extLst>
          </p:cNvPr>
          <p:cNvSpPr/>
          <p:nvPr/>
        </p:nvSpPr>
        <p:spPr>
          <a:xfrm>
            <a:off x="1648418" y="4064398"/>
            <a:ext cx="368018" cy="3590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42D6547-2462-91FB-F5AB-4BD48E8E3519}"/>
              </a:ext>
            </a:extLst>
          </p:cNvPr>
          <p:cNvSpPr/>
          <p:nvPr/>
        </p:nvSpPr>
        <p:spPr>
          <a:xfrm>
            <a:off x="2047595" y="4064398"/>
            <a:ext cx="368018" cy="3590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9C6661-694D-AA47-7E01-D6AE43748966}"/>
              </a:ext>
            </a:extLst>
          </p:cNvPr>
          <p:cNvSpPr txBox="1"/>
          <p:nvPr/>
        </p:nvSpPr>
        <p:spPr>
          <a:xfrm>
            <a:off x="1278484" y="40643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87333F-ADF0-0BC0-AC85-4056DFDDB6CC}"/>
              </a:ext>
            </a:extLst>
          </p:cNvPr>
          <p:cNvSpPr txBox="1"/>
          <p:nvPr/>
        </p:nvSpPr>
        <p:spPr>
          <a:xfrm>
            <a:off x="1683652" y="4064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EDEBCB-0D19-DDE0-6247-6CF28990BDF7}"/>
              </a:ext>
            </a:extLst>
          </p:cNvPr>
          <p:cNvSpPr txBox="1"/>
          <p:nvPr/>
        </p:nvSpPr>
        <p:spPr>
          <a:xfrm>
            <a:off x="2086995" y="4064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47F3EA-33D3-11B1-4E4A-0EBF038B707B}"/>
              </a:ext>
            </a:extLst>
          </p:cNvPr>
          <p:cNvSpPr txBox="1"/>
          <p:nvPr/>
        </p:nvSpPr>
        <p:spPr>
          <a:xfrm>
            <a:off x="1298580" y="4629437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0     0     0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19542B-AE6A-9917-6F08-14E0183FFA92}"/>
              </a:ext>
            </a:extLst>
          </p:cNvPr>
          <p:cNvSpPr txBox="1"/>
          <p:nvPr/>
        </p:nvSpPr>
        <p:spPr>
          <a:xfrm>
            <a:off x="1310122" y="4960686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0     0     0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E416F4-A07A-D980-CEAB-C43003C77C1E}"/>
              </a:ext>
            </a:extLst>
          </p:cNvPr>
          <p:cNvSpPr txBox="1"/>
          <p:nvPr/>
        </p:nvSpPr>
        <p:spPr>
          <a:xfrm>
            <a:off x="1302007" y="5291935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-1     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CAAC09-BC9D-1DD1-2BAC-B06C5DD67FF9}"/>
              </a:ext>
            </a:extLst>
          </p:cNvPr>
          <p:cNvSpPr txBox="1"/>
          <p:nvPr/>
        </p:nvSpPr>
        <p:spPr>
          <a:xfrm>
            <a:off x="1319640" y="5661267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0     0     0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97DD25-3F57-E551-9E4C-38799A44B57B}"/>
              </a:ext>
            </a:extLst>
          </p:cNvPr>
          <p:cNvSpPr txBox="1"/>
          <p:nvPr/>
        </p:nvSpPr>
        <p:spPr>
          <a:xfrm>
            <a:off x="1321573" y="5992516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0     0     1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74206DC-D8B5-3BB5-F5C7-78CBC5AB028E}"/>
              </a:ext>
            </a:extLst>
          </p:cNvPr>
          <p:cNvSpPr/>
          <p:nvPr/>
        </p:nvSpPr>
        <p:spPr>
          <a:xfrm>
            <a:off x="1239962" y="1713221"/>
            <a:ext cx="368018" cy="3590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AB75C9E-4F79-3FC2-09E9-F78DFCF59953}"/>
              </a:ext>
            </a:extLst>
          </p:cNvPr>
          <p:cNvSpPr/>
          <p:nvPr/>
        </p:nvSpPr>
        <p:spPr>
          <a:xfrm>
            <a:off x="1648418" y="1713221"/>
            <a:ext cx="368018" cy="3590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CF3B04D-0372-4311-A86F-E0416D9E8C8F}"/>
              </a:ext>
            </a:extLst>
          </p:cNvPr>
          <p:cNvSpPr/>
          <p:nvPr/>
        </p:nvSpPr>
        <p:spPr>
          <a:xfrm>
            <a:off x="2047595" y="1713221"/>
            <a:ext cx="368018" cy="3590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FA2ADA-22E7-FBF5-853B-47C4DBF6EE06}"/>
              </a:ext>
            </a:extLst>
          </p:cNvPr>
          <p:cNvSpPr txBox="1"/>
          <p:nvPr/>
        </p:nvSpPr>
        <p:spPr>
          <a:xfrm>
            <a:off x="1588236" y="1707939"/>
            <a:ext cx="459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-1 </a:t>
            </a:r>
          </a:p>
        </p:txBody>
      </p:sp>
      <p:pic>
        <p:nvPicPr>
          <p:cNvPr id="41" name="Picture 40" descr="A diagram of a box&#10;&#10;AI-generated content may be incorrect.">
            <a:extLst>
              <a:ext uri="{FF2B5EF4-FFF2-40B4-BE49-F238E27FC236}">
                <a16:creationId xmlns:a16="http://schemas.microsoft.com/office/drawing/2014/main" id="{BB7309FE-0269-A9F2-1F38-3AEF0E2FB7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0165" y="1064674"/>
            <a:ext cx="4881887" cy="3117591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E28DA87A-1D9C-6188-FE7C-3A0FD2EB220E}"/>
              </a:ext>
            </a:extLst>
          </p:cNvPr>
          <p:cNvSpPr/>
          <p:nvPr/>
        </p:nvSpPr>
        <p:spPr>
          <a:xfrm>
            <a:off x="3547068" y="1064674"/>
            <a:ext cx="653143" cy="8337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6F3E0F-0513-BF89-324B-909578372FDB}"/>
              </a:ext>
            </a:extLst>
          </p:cNvPr>
          <p:cNvSpPr txBox="1"/>
          <p:nvPr/>
        </p:nvSpPr>
        <p:spPr>
          <a:xfrm>
            <a:off x="7648539" y="1529096"/>
            <a:ext cx="1274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fixed points</a:t>
            </a:r>
          </a:p>
        </p:txBody>
      </p:sp>
      <p:sp>
        <p:nvSpPr>
          <p:cNvPr id="47" name="Text Box 17">
            <a:extLst>
              <a:ext uri="{FF2B5EF4-FFF2-40B4-BE49-F238E27FC236}">
                <a16:creationId xmlns:a16="http://schemas.microsoft.com/office/drawing/2014/main" id="{5C709651-CBEB-E505-7CDB-C49EEA033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158" y="4508994"/>
            <a:ext cx="530286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Neurons remain in fixed points (or attractors) to maintain information over time</a:t>
            </a:r>
          </a:p>
          <a:p>
            <a:pPr eaLnBrk="1" hangingPunct="1"/>
            <a:br>
              <a:rPr lang="en-GB" altLang="en-US" dirty="0">
                <a:latin typeface="Calibri" panose="020F0502020204030204" pitchFamily="34" charset="0"/>
              </a:rPr>
            </a:br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920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3FD01-A0D9-11A4-9FE0-8A1DABDC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1C40FD59-C417-FC20-B6B0-BB1F1B42A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7A116F48-441E-9AC1-D083-35C19B899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Attractors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3ADCA0-EC7E-E351-8BAC-59E6B955C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DB1EFFEF-3598-1361-1AAD-0E67C32B1A8C}"/>
              </a:ext>
            </a:extLst>
          </p:cNvPr>
          <p:cNvSpPr/>
          <p:nvPr/>
        </p:nvSpPr>
        <p:spPr>
          <a:xfrm>
            <a:off x="3547068" y="1064674"/>
            <a:ext cx="653143" cy="8337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comparison of a normalized activity&#10;&#10;AI-generated content may be incorrect.">
            <a:extLst>
              <a:ext uri="{FF2B5EF4-FFF2-40B4-BE49-F238E27FC236}">
                <a16:creationId xmlns:a16="http://schemas.microsoft.com/office/drawing/2014/main" id="{FA54E6C2-1ACF-A5FC-2D62-FDD78D4F6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18" y="1275560"/>
            <a:ext cx="4933950" cy="4136850"/>
          </a:xfrm>
          <a:prstGeom prst="rect">
            <a:avLst/>
          </a:prstGeom>
        </p:spPr>
      </p:pic>
      <p:sp>
        <p:nvSpPr>
          <p:cNvPr id="24" name="Text Box 17">
            <a:extLst>
              <a:ext uri="{FF2B5EF4-FFF2-40B4-BE49-F238E27FC236}">
                <a16:creationId xmlns:a16="http://schemas.microsoft.com/office/drawing/2014/main" id="{44F588F9-C112-41DC-A19E-859AA16E1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71" y="5518498"/>
            <a:ext cx="7290080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Tethered task – fixed delay duration</a:t>
            </a:r>
          </a:p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Untethered task – unknown delay duration</a:t>
            </a:r>
          </a:p>
          <a:p>
            <a:pPr eaLnBrk="1" hangingPunct="1"/>
            <a:br>
              <a:rPr lang="en-GB" altLang="en-US" dirty="0">
                <a:latin typeface="Calibri" panose="020F0502020204030204" pitchFamily="34" charset="0"/>
              </a:rPr>
            </a:br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204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75A1A-06E3-ADBC-49DA-D2233EB8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C0D133F-974C-4A54-6B07-89ED5091D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861E3EDE-07A2-58DD-5EE0-375E12CAE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The power of RNNs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A5AD03-466F-9F21-F0F5-FABB83CC3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pic>
        <p:nvPicPr>
          <p:cNvPr id="4" name="Picture 3" descr="A screenshot of a text message&#10;&#10;AI-generated content may be incorrect.">
            <a:extLst>
              <a:ext uri="{FF2B5EF4-FFF2-40B4-BE49-F238E27FC236}">
                <a16:creationId xmlns:a16="http://schemas.microsoft.com/office/drawing/2014/main" id="{CCD9A5FF-43F3-3497-7F4A-3329D6FBE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15" y="1286966"/>
            <a:ext cx="8783418" cy="538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86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The power of RNNs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8" name="Text Box 17">
            <a:extLst>
              <a:ext uri="{FF2B5EF4-FFF2-40B4-BE49-F238E27FC236}">
                <a16:creationId xmlns:a16="http://schemas.microsoft.com/office/drawing/2014/main" id="{26EA6B9B-1E36-1C4B-83CE-7EB014D16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0134" y="1431750"/>
            <a:ext cx="3041775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And here is an RNN trained on the complete works of Shakespeare]</a:t>
            </a:r>
          </a:p>
          <a:p>
            <a:pPr eaLnBrk="1" hangingPunct="1"/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For obvious reasons, RNNs have widespread applications in machine translation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F49E8F-245B-F241-9071-2311048C4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32" y="1431750"/>
            <a:ext cx="5046180" cy="500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17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6D27F-129C-2C47-1C89-4730FA533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E528752A-EB14-AD23-658C-90F4F403A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D7A3C387-9DC5-5D4C-D2D5-140EDC0D4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The power of RNNs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35679C-F4E9-AF34-FA70-271FA8216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9C60223-F7BD-5F83-CA76-EC320E62D2AD}"/>
              </a:ext>
            </a:extLst>
          </p:cNvPr>
          <p:cNvSpPr txBox="1"/>
          <p:nvPr/>
        </p:nvSpPr>
        <p:spPr>
          <a:xfrm>
            <a:off x="7516167" y="6488668"/>
            <a:ext cx="1531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Zaremba 2017</a:t>
            </a: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9C1E4D-AAE4-0E81-FB65-968A6928A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74" y="1375299"/>
            <a:ext cx="3797300" cy="2336800"/>
          </a:xfrm>
          <a:prstGeom prst="rect">
            <a:avLst/>
          </a:prstGeom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75EB08-293A-C9D1-B158-585DED589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230" y="1375299"/>
            <a:ext cx="3327400" cy="2298700"/>
          </a:xfrm>
          <a:prstGeom prst="rect">
            <a:avLst/>
          </a:prstGeom>
        </p:spPr>
      </p:pic>
      <p:sp>
        <p:nvSpPr>
          <p:cNvPr id="23" name="Text Box 17">
            <a:extLst>
              <a:ext uri="{FF2B5EF4-FFF2-40B4-BE49-F238E27FC236}">
                <a16:creationId xmlns:a16="http://schemas.microsoft.com/office/drawing/2014/main" id="{89FEFEDA-F022-0017-767C-D1C6A9471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70" y="4160018"/>
            <a:ext cx="821934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RNN trained on Python scripts, can predict variable states for new code snippets!! Early version of in-context learning</a:t>
            </a:r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836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Backpropagation through time (BPTT)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pic>
        <p:nvPicPr>
          <p:cNvPr id="5122" name="Picture 2" descr="https://upload.wikimedia.org/wikipedia/commons/thumb/b/b5/Recurrent_neural_network_unfold.svg/2126px-Recurrent_neural_network_unfold.svg.png">
            <a:extLst>
              <a:ext uri="{FF2B5EF4-FFF2-40B4-BE49-F238E27FC236}">
                <a16:creationId xmlns:a16="http://schemas.microsoft.com/office/drawing/2014/main" id="{F10B7647-EFCA-8444-9A91-5A10C15596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" r="6277"/>
          <a:stretch/>
        </p:blipFill>
        <p:spPr bwMode="auto">
          <a:xfrm>
            <a:off x="87547" y="1217069"/>
            <a:ext cx="8793805" cy="320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Box 17">
            <a:extLst>
              <a:ext uri="{FF2B5EF4-FFF2-40B4-BE49-F238E27FC236}">
                <a16:creationId xmlns:a16="http://schemas.microsoft.com/office/drawing/2014/main" id="{86C2CFF1-FD6D-6A4F-AB05-06E7DE54D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634" y="4252390"/>
            <a:ext cx="839873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To train the network, the gradients need to be computed with respect to the past information. </a:t>
            </a:r>
            <a:endParaRPr lang="en-US" altLang="en-US" sz="28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015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Problems with BPTT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A9946F-9A91-1649-8790-E2B7C2543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79" y="1734253"/>
            <a:ext cx="3461021" cy="15717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3AD8B8-192F-D84D-B701-42C748184E1B}"/>
              </a:ext>
            </a:extLst>
          </p:cNvPr>
          <p:cNvSpPr txBox="1"/>
          <p:nvPr/>
        </p:nvSpPr>
        <p:spPr>
          <a:xfrm>
            <a:off x="526451" y="1364921"/>
            <a:ext cx="2935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”The clouds are in the…[sky]”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2C59DE-F0BB-9D45-B7F8-7125DAA3A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006" y="1823370"/>
            <a:ext cx="4568622" cy="13935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CBC7BE-E54B-164C-9816-B329B3A9EADA}"/>
              </a:ext>
            </a:extLst>
          </p:cNvPr>
          <p:cNvSpPr txBox="1"/>
          <p:nvPr/>
        </p:nvSpPr>
        <p:spPr>
          <a:xfrm>
            <a:off x="3990730" y="1364921"/>
            <a:ext cx="4285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”I grew up in France…I can speak…[French]”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8CBDE-0D30-0F9B-2577-8F4756BC2EE4}"/>
              </a:ext>
            </a:extLst>
          </p:cNvPr>
          <p:cNvSpPr txBox="1"/>
          <p:nvPr/>
        </p:nvSpPr>
        <p:spPr>
          <a:xfrm>
            <a:off x="526451" y="3675369"/>
            <a:ext cx="82960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GB" altLang="en-US" sz="2800" dirty="0">
                <a:latin typeface="Calibri" panose="020F0502020204030204" pitchFamily="34" charset="0"/>
              </a:rPr>
              <a:t>The network needs to be “unrolled” in time, updates applied, and then “rolled back up”.</a:t>
            </a:r>
          </a:p>
          <a:p>
            <a:pPr eaLnBrk="1" hangingPunct="1"/>
            <a:endParaRPr lang="en-GB" altLang="en-US" sz="2800" dirty="0">
              <a:latin typeface="Calibri" panose="020F0502020204030204" pitchFamily="34" charset="0"/>
            </a:endParaRPr>
          </a:p>
          <a:p>
            <a:pPr eaLnBrk="1" hangingPunct="1"/>
            <a:r>
              <a:rPr lang="en-GB" altLang="en-US" sz="2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This leads to the problems of vanishing and exploding gradients, especially over long timescales</a:t>
            </a:r>
            <a:endParaRPr lang="en-US" altLang="en-US" sz="28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015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 dirty="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PBWM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23" name="Text Box 11">
            <a:extLst>
              <a:ext uri="{FF2B5EF4-FFF2-40B4-BE49-F238E27FC236}">
                <a16:creationId xmlns:a16="http://schemas.microsoft.com/office/drawing/2014/main" id="{D20E0389-A818-4647-9406-D609FB3A2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4846" y="6488668"/>
            <a:ext cx="32291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>
                <a:latin typeface="Calibri" panose="020F0502020204030204" pitchFamily="34" charset="0"/>
              </a:rPr>
              <a:t>Frank et al 2001; Hazy et al 2006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6E1B4A-5577-F645-9847-34F357B0B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54" y="1257374"/>
            <a:ext cx="3350773" cy="2065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F90185-B359-6E4B-BB7E-C161DC434E85}"/>
              </a:ext>
            </a:extLst>
          </p:cNvPr>
          <p:cNvSpPr txBox="1"/>
          <p:nvPr/>
        </p:nvSpPr>
        <p:spPr>
          <a:xfrm>
            <a:off x="509407" y="2861599"/>
            <a:ext cx="1076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AX-CPT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37F0E8-73E5-D147-812F-FC012EB22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189" y="1494464"/>
            <a:ext cx="4191000" cy="1828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D8F236-2FD6-6849-917C-085369D5A273}"/>
              </a:ext>
            </a:extLst>
          </p:cNvPr>
          <p:cNvSpPr txBox="1"/>
          <p:nvPr/>
        </p:nvSpPr>
        <p:spPr>
          <a:xfrm>
            <a:off x="436854" y="3423563"/>
            <a:ext cx="3728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 the last number was 1, press for AX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 the last number was 2, press for BY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C769A0-33F2-C544-B65A-9906133D9588}"/>
              </a:ext>
            </a:extLst>
          </p:cNvPr>
          <p:cNvSpPr txBox="1"/>
          <p:nvPr/>
        </p:nvSpPr>
        <p:spPr>
          <a:xfrm>
            <a:off x="436854" y="4303454"/>
            <a:ext cx="853204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Frank proposes that one outcome of striatal inputs to PFC is to </a:t>
            </a:r>
            <a:r>
              <a:rPr lang="en-US" sz="2800" b="1" dirty="0"/>
              <a:t>gate</a:t>
            </a:r>
            <a:r>
              <a:rPr lang="en-US" sz="2800" dirty="0"/>
              <a:t> an activity state in working memory circuits</a:t>
            </a:r>
          </a:p>
          <a:p>
            <a:endParaRPr lang="en-US" sz="800" dirty="0"/>
          </a:p>
          <a:p>
            <a:r>
              <a:rPr lang="en-US" sz="2800" dirty="0"/>
              <a:t>This allows the circuit to solve the </a:t>
            </a:r>
            <a:r>
              <a:rPr lang="en-US" sz="2800" b="1" dirty="0"/>
              <a:t>temporal credit assignment problem</a:t>
            </a:r>
            <a:r>
              <a:rPr lang="en-US" sz="2800" dirty="0"/>
              <a:t>, i.e. knowing which events caused an outcome</a:t>
            </a:r>
          </a:p>
        </p:txBody>
      </p:sp>
    </p:spTree>
    <p:extLst>
      <p:ext uri="{BB962C8B-B14F-4D97-AF65-F5344CB8AC3E}">
        <p14:creationId xmlns:p14="http://schemas.microsoft.com/office/powerpoint/2010/main" val="906598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 dirty="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82273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Long short-term memory network (LSTM)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13" name="Text Box 11">
            <a:extLst>
              <a:ext uri="{FF2B5EF4-FFF2-40B4-BE49-F238E27FC236}">
                <a16:creationId xmlns:a16="http://schemas.microsoft.com/office/drawing/2014/main" id="{6F09A286-7A0C-0F4E-A2EB-B58D44D85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817" y="6488668"/>
            <a:ext cx="32921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 err="1">
                <a:latin typeface="Calibri" panose="020F0502020204030204" pitchFamily="34" charset="0"/>
              </a:rPr>
              <a:t>Hochreiter</a:t>
            </a:r>
            <a:r>
              <a:rPr lang="en-GB" altLang="en-US" sz="1800" dirty="0">
                <a:latin typeface="Calibri" panose="020F0502020204030204" pitchFamily="34" charset="0"/>
              </a:rPr>
              <a:t> &amp; </a:t>
            </a:r>
            <a:r>
              <a:rPr lang="en-GB" altLang="en-US" sz="1800" dirty="0" err="1">
                <a:latin typeface="Calibri" panose="020F0502020204030204" pitchFamily="34" charset="0"/>
              </a:rPr>
              <a:t>Schmidthuber</a:t>
            </a:r>
            <a:r>
              <a:rPr lang="en-GB" altLang="en-US" sz="1800" dirty="0">
                <a:latin typeface="Calibri" panose="020F0502020204030204" pitchFamily="34" charset="0"/>
              </a:rPr>
              <a:t> 1997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236D2C-2364-D749-995D-F1B02D0493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95" b="12653"/>
          <a:stretch/>
        </p:blipFill>
        <p:spPr>
          <a:xfrm>
            <a:off x="88900" y="1223009"/>
            <a:ext cx="7116005" cy="2527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DEBD51-EEC1-1B46-BEDE-875C2D33F7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31" r="59264"/>
          <a:stretch/>
        </p:blipFill>
        <p:spPr>
          <a:xfrm>
            <a:off x="7386161" y="1439379"/>
            <a:ext cx="1588738" cy="6075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0535C7A-2494-9949-A817-59EE30620FB3}"/>
              </a:ext>
            </a:extLst>
          </p:cNvPr>
          <p:cNvSpPr txBox="1"/>
          <p:nvPr/>
        </p:nvSpPr>
        <p:spPr>
          <a:xfrm>
            <a:off x="244136" y="4000489"/>
            <a:ext cx="839186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full LSTM architecture involves distinct gates that switch states in or out of the hidden units</a:t>
            </a:r>
          </a:p>
          <a:p>
            <a:endParaRPr lang="en-US" sz="800" dirty="0"/>
          </a:p>
          <a:p>
            <a:r>
              <a:rPr lang="en-US" sz="3200" dirty="0"/>
              <a:t>However, the principle is still the same, in that the hidden state is passed between cycles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D91790-810C-3B42-B6F8-FFC24BB08459}"/>
              </a:ext>
            </a:extLst>
          </p:cNvPr>
          <p:cNvSpPr txBox="1"/>
          <p:nvPr/>
        </p:nvSpPr>
        <p:spPr>
          <a:xfrm>
            <a:off x="3421785" y="1862294"/>
            <a:ext cx="1016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state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8AD0EFF-0189-D14F-B264-C0950DA778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387" t="5168" r="19907" b="-11972"/>
          <a:stretch/>
        </p:blipFill>
        <p:spPr>
          <a:xfrm>
            <a:off x="7497908" y="2119553"/>
            <a:ext cx="1509612" cy="6556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1465D2C-0C59-9A4F-A3B3-78697572FB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93" t="-3106" r="1"/>
          <a:stretch/>
        </p:blipFill>
        <p:spPr>
          <a:xfrm>
            <a:off x="7450941" y="2793929"/>
            <a:ext cx="776388" cy="63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17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6B7114C-5D34-2D4E-9F59-8300E4E8A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94" y="2470475"/>
            <a:ext cx="2256942" cy="1441409"/>
          </a:xfrm>
          <a:prstGeom prst="rect">
            <a:avLst/>
          </a:prstGeom>
        </p:spPr>
      </p:pic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 dirty="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LSTMs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13" name="Text Box 11">
            <a:extLst>
              <a:ext uri="{FF2B5EF4-FFF2-40B4-BE49-F238E27FC236}">
                <a16:creationId xmlns:a16="http://schemas.microsoft.com/office/drawing/2014/main" id="{6F09A286-7A0C-0F4E-A2EB-B58D44D85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817" y="6488668"/>
            <a:ext cx="32921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 err="1">
                <a:latin typeface="Calibri" panose="020F0502020204030204" pitchFamily="34" charset="0"/>
              </a:rPr>
              <a:t>Hochreiter</a:t>
            </a:r>
            <a:r>
              <a:rPr lang="en-GB" altLang="en-US" sz="1800" dirty="0">
                <a:latin typeface="Calibri" panose="020F0502020204030204" pitchFamily="34" charset="0"/>
              </a:rPr>
              <a:t> &amp; </a:t>
            </a:r>
            <a:r>
              <a:rPr lang="en-GB" altLang="en-US" sz="1800" dirty="0" err="1">
                <a:latin typeface="Calibri" panose="020F0502020204030204" pitchFamily="34" charset="0"/>
              </a:rPr>
              <a:t>Schmidthuber</a:t>
            </a:r>
            <a:r>
              <a:rPr lang="en-GB" altLang="en-US" sz="1800" dirty="0">
                <a:latin typeface="Calibri" panose="020F0502020204030204" pitchFamily="34" charset="0"/>
              </a:rPr>
              <a:t> 1997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64736-EE84-C347-BBB7-15F026B2A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" y="1198196"/>
            <a:ext cx="2308236" cy="138240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97F4C0D-03EB-4A4A-BDBD-B4421C8E7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95" y="3868262"/>
            <a:ext cx="2178241" cy="136773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CCF2BDB-D52F-8F4D-BEC9-37AC573AF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394" y="5219577"/>
            <a:ext cx="2341698" cy="151559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53E538B-F06A-4F45-B92F-172C4EAF5A8B}"/>
              </a:ext>
            </a:extLst>
          </p:cNvPr>
          <p:cNvSpPr txBox="1"/>
          <p:nvPr/>
        </p:nvSpPr>
        <p:spPr>
          <a:xfrm>
            <a:off x="2947604" y="3112577"/>
            <a:ext cx="58395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Four distinct set of trainable weights control what is switched in or out on each timestep</a:t>
            </a:r>
          </a:p>
          <a:p>
            <a:endParaRPr lang="en-US" sz="800" dirty="0"/>
          </a:p>
          <a:p>
            <a:r>
              <a:rPr lang="en-US" sz="3200" dirty="0"/>
              <a:t>Sigmoid nonlinearities determine how ”open” the switches are in range [0,1].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0CFB3CC-B1D8-3643-B4A7-7B435062C63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49518"/>
          <a:stretch/>
        </p:blipFill>
        <p:spPr>
          <a:xfrm>
            <a:off x="2753017" y="1363321"/>
            <a:ext cx="3098800" cy="143068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730D9E8-A937-6F4C-8D45-19E097431A8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0482"/>
          <a:stretch/>
        </p:blipFill>
        <p:spPr>
          <a:xfrm>
            <a:off x="5867400" y="1416053"/>
            <a:ext cx="3098800" cy="140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19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991089D-2A2C-8145-9E02-32135BB99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55" y="5061762"/>
            <a:ext cx="4548491" cy="140882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E0B130B-5138-E948-9A26-3C5CBF936DAE}"/>
              </a:ext>
            </a:extLst>
          </p:cNvPr>
          <p:cNvCxnSpPr/>
          <p:nvPr/>
        </p:nvCxnSpPr>
        <p:spPr>
          <a:xfrm>
            <a:off x="1826369" y="2525228"/>
            <a:ext cx="1731523" cy="1008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 dirty="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Synaptic memory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23" name="Text Box 11">
            <a:extLst>
              <a:ext uri="{FF2B5EF4-FFF2-40B4-BE49-F238E27FC236}">
                <a16:creationId xmlns:a16="http://schemas.microsoft.com/office/drawing/2014/main" id="{D20E0389-A818-4647-9406-D609FB3A2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644" y="6488668"/>
            <a:ext cx="17703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>
                <a:latin typeface="Calibri" panose="020F0502020204030204" pitchFamily="34" charset="0"/>
              </a:rPr>
              <a:t>Stokes et al 2015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9FC0B4-8877-E343-9180-9884B518A7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843"/>
          <a:stretch/>
        </p:blipFill>
        <p:spPr>
          <a:xfrm>
            <a:off x="133351" y="2889116"/>
            <a:ext cx="5219700" cy="217264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9537AAD-6F28-7E41-BC9F-DD44E039A116}"/>
              </a:ext>
            </a:extLst>
          </p:cNvPr>
          <p:cNvSpPr/>
          <p:nvPr/>
        </p:nvSpPr>
        <p:spPr>
          <a:xfrm>
            <a:off x="393160" y="5915871"/>
            <a:ext cx="151590" cy="8268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50C2B-C6E2-9F48-B99F-CA8FE53984D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6877"/>
          <a:stretch/>
        </p:blipFill>
        <p:spPr>
          <a:xfrm>
            <a:off x="991410" y="2181250"/>
            <a:ext cx="681747" cy="813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7C8F9B-F726-854F-AC0F-E4CA32B2C82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4064"/>
          <a:stretch/>
        </p:blipFill>
        <p:spPr>
          <a:xfrm>
            <a:off x="3711103" y="2181250"/>
            <a:ext cx="749030" cy="8243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3E78ED5-DF73-FE42-BD2C-67330C1B6F6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447" r="35720"/>
          <a:stretch/>
        </p:blipFill>
        <p:spPr>
          <a:xfrm>
            <a:off x="2353841" y="2171420"/>
            <a:ext cx="642278" cy="82381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DEA38FF-F88C-9744-8220-E986252F8945}"/>
              </a:ext>
            </a:extLst>
          </p:cNvPr>
          <p:cNvSpPr/>
          <p:nvPr/>
        </p:nvSpPr>
        <p:spPr>
          <a:xfrm>
            <a:off x="917387" y="6434798"/>
            <a:ext cx="1181507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7D0B29-1218-424F-A7DD-55FFAC36E88E}"/>
              </a:ext>
            </a:extLst>
          </p:cNvPr>
          <p:cNvSpPr txBox="1"/>
          <p:nvPr/>
        </p:nvSpPr>
        <p:spPr>
          <a:xfrm>
            <a:off x="5516395" y="1631472"/>
            <a:ext cx="320339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In the synaptic memory model, the activity is maintained in fast plastic connections (or gates) rather than persistent activity states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Predicts that random input to the system should re-elicit neural code for WM stimulus</a:t>
            </a:r>
          </a:p>
          <a:p>
            <a:endParaRPr lang="en-US" sz="8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BBB9CC-998F-5A43-84BF-072D92D62859}"/>
              </a:ext>
            </a:extLst>
          </p:cNvPr>
          <p:cNvGrpSpPr/>
          <p:nvPr/>
        </p:nvGrpSpPr>
        <p:grpSpPr>
          <a:xfrm>
            <a:off x="826444" y="1222746"/>
            <a:ext cx="1011677" cy="817451"/>
            <a:chOff x="894944" y="1885819"/>
            <a:chExt cx="3527552" cy="284586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0AAE962-DCEE-C446-9560-9705B0948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8727" y="1885819"/>
              <a:ext cx="3523769" cy="2845860"/>
            </a:xfrm>
            <a:prstGeom prst="rect">
              <a:avLst/>
            </a:prstGeom>
          </p:spPr>
        </p:pic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84D69E9-7343-FC4C-B44D-735DA4211730}"/>
                </a:ext>
              </a:extLst>
            </p:cNvPr>
            <p:cNvSpPr/>
            <p:nvPr/>
          </p:nvSpPr>
          <p:spPr>
            <a:xfrm>
              <a:off x="894944" y="1896893"/>
              <a:ext cx="2324911" cy="1848255"/>
            </a:xfrm>
            <a:custGeom>
              <a:avLst/>
              <a:gdLst>
                <a:gd name="connsiteX0" fmla="*/ 758758 w 2324911"/>
                <a:gd name="connsiteY0" fmla="*/ 1848255 h 1848255"/>
                <a:gd name="connsiteX1" fmla="*/ 525294 w 2324911"/>
                <a:gd name="connsiteY1" fmla="*/ 1848255 h 1848255"/>
                <a:gd name="connsiteX2" fmla="*/ 379379 w 2324911"/>
                <a:gd name="connsiteY2" fmla="*/ 1799617 h 1848255"/>
                <a:gd name="connsiteX3" fmla="*/ 291830 w 2324911"/>
                <a:gd name="connsiteY3" fmla="*/ 1731523 h 1848255"/>
                <a:gd name="connsiteX4" fmla="*/ 214009 w 2324911"/>
                <a:gd name="connsiteY4" fmla="*/ 1653702 h 1848255"/>
                <a:gd name="connsiteX5" fmla="*/ 126460 w 2324911"/>
                <a:gd name="connsiteY5" fmla="*/ 1556426 h 1848255"/>
                <a:gd name="connsiteX6" fmla="*/ 97277 w 2324911"/>
                <a:gd name="connsiteY6" fmla="*/ 1517515 h 1848255"/>
                <a:gd name="connsiteX7" fmla="*/ 77822 w 2324911"/>
                <a:gd name="connsiteY7" fmla="*/ 1449421 h 1848255"/>
                <a:gd name="connsiteX8" fmla="*/ 58366 w 2324911"/>
                <a:gd name="connsiteY8" fmla="*/ 1342417 h 1848255"/>
                <a:gd name="connsiteX9" fmla="*/ 38911 w 2324911"/>
                <a:gd name="connsiteY9" fmla="*/ 1303506 h 1848255"/>
                <a:gd name="connsiteX10" fmla="*/ 0 w 2324911"/>
                <a:gd name="connsiteY10" fmla="*/ 1245140 h 1848255"/>
                <a:gd name="connsiteX11" fmla="*/ 0 w 2324911"/>
                <a:gd name="connsiteY11" fmla="*/ 1186775 h 1848255"/>
                <a:gd name="connsiteX12" fmla="*/ 29183 w 2324911"/>
                <a:gd name="connsiteY12" fmla="*/ 1060315 h 1848255"/>
                <a:gd name="connsiteX13" fmla="*/ 38911 w 2324911"/>
                <a:gd name="connsiteY13" fmla="*/ 1011677 h 1848255"/>
                <a:gd name="connsiteX14" fmla="*/ 38911 w 2324911"/>
                <a:gd name="connsiteY14" fmla="*/ 1011677 h 1848255"/>
                <a:gd name="connsiteX15" fmla="*/ 19456 w 2324911"/>
                <a:gd name="connsiteY15" fmla="*/ 894945 h 1848255"/>
                <a:gd name="connsiteX16" fmla="*/ 68094 w 2324911"/>
                <a:gd name="connsiteY16" fmla="*/ 836579 h 1848255"/>
                <a:gd name="connsiteX17" fmla="*/ 68094 w 2324911"/>
                <a:gd name="connsiteY17" fmla="*/ 778213 h 1848255"/>
                <a:gd name="connsiteX18" fmla="*/ 116732 w 2324911"/>
                <a:gd name="connsiteY18" fmla="*/ 700392 h 1848255"/>
                <a:gd name="connsiteX19" fmla="*/ 184826 w 2324911"/>
                <a:gd name="connsiteY19" fmla="*/ 651753 h 1848255"/>
                <a:gd name="connsiteX20" fmla="*/ 204281 w 2324911"/>
                <a:gd name="connsiteY20" fmla="*/ 622570 h 1848255"/>
                <a:gd name="connsiteX21" fmla="*/ 252919 w 2324911"/>
                <a:gd name="connsiteY21" fmla="*/ 544749 h 1848255"/>
                <a:gd name="connsiteX22" fmla="*/ 340468 w 2324911"/>
                <a:gd name="connsiteY22" fmla="*/ 437745 h 1848255"/>
                <a:gd name="connsiteX23" fmla="*/ 408562 w 2324911"/>
                <a:gd name="connsiteY23" fmla="*/ 379379 h 1848255"/>
                <a:gd name="connsiteX24" fmla="*/ 505839 w 2324911"/>
                <a:gd name="connsiteY24" fmla="*/ 340468 h 1848255"/>
                <a:gd name="connsiteX25" fmla="*/ 622571 w 2324911"/>
                <a:gd name="connsiteY25" fmla="*/ 301557 h 1848255"/>
                <a:gd name="connsiteX26" fmla="*/ 710119 w 2324911"/>
                <a:gd name="connsiteY26" fmla="*/ 252919 h 1848255"/>
                <a:gd name="connsiteX27" fmla="*/ 768485 w 2324911"/>
                <a:gd name="connsiteY27" fmla="*/ 223736 h 1848255"/>
                <a:gd name="connsiteX28" fmla="*/ 846307 w 2324911"/>
                <a:gd name="connsiteY28" fmla="*/ 194553 h 1848255"/>
                <a:gd name="connsiteX29" fmla="*/ 982494 w 2324911"/>
                <a:gd name="connsiteY29" fmla="*/ 165370 h 1848255"/>
                <a:gd name="connsiteX30" fmla="*/ 1138137 w 2324911"/>
                <a:gd name="connsiteY30" fmla="*/ 97277 h 1848255"/>
                <a:gd name="connsiteX31" fmla="*/ 1274324 w 2324911"/>
                <a:gd name="connsiteY31" fmla="*/ 77821 h 1848255"/>
                <a:gd name="connsiteX32" fmla="*/ 1391056 w 2324911"/>
                <a:gd name="connsiteY32" fmla="*/ 48638 h 1848255"/>
                <a:gd name="connsiteX33" fmla="*/ 1536971 w 2324911"/>
                <a:gd name="connsiteY33" fmla="*/ 19455 h 1848255"/>
                <a:gd name="connsiteX34" fmla="*/ 1634247 w 2324911"/>
                <a:gd name="connsiteY34" fmla="*/ 19455 h 1848255"/>
                <a:gd name="connsiteX35" fmla="*/ 1634247 w 2324911"/>
                <a:gd name="connsiteY35" fmla="*/ 19455 h 1848255"/>
                <a:gd name="connsiteX36" fmla="*/ 1819073 w 2324911"/>
                <a:gd name="connsiteY36" fmla="*/ 29183 h 1848255"/>
                <a:gd name="connsiteX37" fmla="*/ 1848256 w 2324911"/>
                <a:gd name="connsiteY37" fmla="*/ 29183 h 1848255"/>
                <a:gd name="connsiteX38" fmla="*/ 1906622 w 2324911"/>
                <a:gd name="connsiteY38" fmla="*/ 9728 h 1848255"/>
                <a:gd name="connsiteX39" fmla="*/ 1994171 w 2324911"/>
                <a:gd name="connsiteY39" fmla="*/ 0 h 1848255"/>
                <a:gd name="connsiteX40" fmla="*/ 2120630 w 2324911"/>
                <a:gd name="connsiteY40" fmla="*/ 0 h 1848255"/>
                <a:gd name="connsiteX41" fmla="*/ 2237362 w 2324911"/>
                <a:gd name="connsiteY41" fmla="*/ 29183 h 1848255"/>
                <a:gd name="connsiteX42" fmla="*/ 2324911 w 2324911"/>
                <a:gd name="connsiteY42" fmla="*/ 58366 h 1848255"/>
                <a:gd name="connsiteX43" fmla="*/ 2324911 w 2324911"/>
                <a:gd name="connsiteY43" fmla="*/ 58366 h 1848255"/>
                <a:gd name="connsiteX44" fmla="*/ 2198451 w 2324911"/>
                <a:gd name="connsiteY44" fmla="*/ 136187 h 1848255"/>
                <a:gd name="connsiteX45" fmla="*/ 2120630 w 2324911"/>
                <a:gd name="connsiteY45" fmla="*/ 194553 h 1848255"/>
                <a:gd name="connsiteX46" fmla="*/ 2052537 w 2324911"/>
                <a:gd name="connsiteY46" fmla="*/ 243192 h 1848255"/>
                <a:gd name="connsiteX47" fmla="*/ 1964988 w 2324911"/>
                <a:gd name="connsiteY47" fmla="*/ 282102 h 1848255"/>
                <a:gd name="connsiteX48" fmla="*/ 1857983 w 2324911"/>
                <a:gd name="connsiteY48" fmla="*/ 359923 h 1848255"/>
                <a:gd name="connsiteX49" fmla="*/ 1819073 w 2324911"/>
                <a:gd name="connsiteY49" fmla="*/ 408562 h 1848255"/>
                <a:gd name="connsiteX50" fmla="*/ 1780162 w 2324911"/>
                <a:gd name="connsiteY50" fmla="*/ 486383 h 1848255"/>
                <a:gd name="connsiteX51" fmla="*/ 1702341 w 2324911"/>
                <a:gd name="connsiteY51" fmla="*/ 622570 h 1848255"/>
                <a:gd name="connsiteX52" fmla="*/ 1643975 w 2324911"/>
                <a:gd name="connsiteY52" fmla="*/ 700392 h 1848255"/>
                <a:gd name="connsiteX53" fmla="*/ 1643975 w 2324911"/>
                <a:gd name="connsiteY53" fmla="*/ 700392 h 1848255"/>
                <a:gd name="connsiteX54" fmla="*/ 1653702 w 2324911"/>
                <a:gd name="connsiteY54" fmla="*/ 836579 h 1848255"/>
                <a:gd name="connsiteX55" fmla="*/ 1653702 w 2324911"/>
                <a:gd name="connsiteY55" fmla="*/ 836579 h 1848255"/>
                <a:gd name="connsiteX56" fmla="*/ 1663430 w 2324911"/>
                <a:gd name="connsiteY56" fmla="*/ 992221 h 1848255"/>
                <a:gd name="connsiteX57" fmla="*/ 1663430 w 2324911"/>
                <a:gd name="connsiteY57" fmla="*/ 992221 h 1848255"/>
                <a:gd name="connsiteX58" fmla="*/ 1721796 w 2324911"/>
                <a:gd name="connsiteY58" fmla="*/ 1108953 h 1848255"/>
                <a:gd name="connsiteX59" fmla="*/ 1673158 w 2324911"/>
                <a:gd name="connsiteY59" fmla="*/ 1206230 h 1848255"/>
                <a:gd name="connsiteX60" fmla="*/ 1634247 w 2324911"/>
                <a:gd name="connsiteY60" fmla="*/ 1245140 h 1848255"/>
                <a:gd name="connsiteX61" fmla="*/ 1575881 w 2324911"/>
                <a:gd name="connsiteY61" fmla="*/ 1264596 h 1848255"/>
                <a:gd name="connsiteX62" fmla="*/ 1459149 w 2324911"/>
                <a:gd name="connsiteY62" fmla="*/ 1245140 h 1848255"/>
                <a:gd name="connsiteX63" fmla="*/ 1361873 w 2324911"/>
                <a:gd name="connsiteY63" fmla="*/ 1264596 h 1848255"/>
                <a:gd name="connsiteX64" fmla="*/ 1264596 w 2324911"/>
                <a:gd name="connsiteY64" fmla="*/ 1313234 h 1848255"/>
                <a:gd name="connsiteX65" fmla="*/ 1177047 w 2324911"/>
                <a:gd name="connsiteY65" fmla="*/ 1381328 h 1848255"/>
                <a:gd name="connsiteX66" fmla="*/ 1021405 w 2324911"/>
                <a:gd name="connsiteY66" fmla="*/ 1478604 h 1848255"/>
                <a:gd name="connsiteX67" fmla="*/ 924128 w 2324911"/>
                <a:gd name="connsiteY67" fmla="*/ 1575881 h 1848255"/>
                <a:gd name="connsiteX68" fmla="*/ 836579 w 2324911"/>
                <a:gd name="connsiteY68" fmla="*/ 1692613 h 1848255"/>
                <a:gd name="connsiteX69" fmla="*/ 797668 w 2324911"/>
                <a:gd name="connsiteY69" fmla="*/ 1809345 h 1848255"/>
                <a:gd name="connsiteX70" fmla="*/ 758758 w 2324911"/>
                <a:gd name="connsiteY70" fmla="*/ 1848255 h 184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2324911" h="1848255">
                  <a:moveTo>
                    <a:pt x="758758" y="1848255"/>
                  </a:moveTo>
                  <a:lnTo>
                    <a:pt x="525294" y="1848255"/>
                  </a:lnTo>
                  <a:lnTo>
                    <a:pt x="379379" y="1799617"/>
                  </a:lnTo>
                  <a:lnTo>
                    <a:pt x="291830" y="1731523"/>
                  </a:lnTo>
                  <a:lnTo>
                    <a:pt x="214009" y="1653702"/>
                  </a:lnTo>
                  <a:lnTo>
                    <a:pt x="126460" y="1556426"/>
                  </a:lnTo>
                  <a:lnTo>
                    <a:pt x="97277" y="1517515"/>
                  </a:lnTo>
                  <a:lnTo>
                    <a:pt x="77822" y="1449421"/>
                  </a:lnTo>
                  <a:lnTo>
                    <a:pt x="58366" y="1342417"/>
                  </a:lnTo>
                  <a:lnTo>
                    <a:pt x="38911" y="1303506"/>
                  </a:lnTo>
                  <a:lnTo>
                    <a:pt x="0" y="1245140"/>
                  </a:lnTo>
                  <a:lnTo>
                    <a:pt x="0" y="1186775"/>
                  </a:lnTo>
                  <a:lnTo>
                    <a:pt x="29183" y="1060315"/>
                  </a:lnTo>
                  <a:lnTo>
                    <a:pt x="38911" y="1011677"/>
                  </a:lnTo>
                  <a:lnTo>
                    <a:pt x="38911" y="1011677"/>
                  </a:lnTo>
                  <a:lnTo>
                    <a:pt x="19456" y="894945"/>
                  </a:lnTo>
                  <a:lnTo>
                    <a:pt x="68094" y="836579"/>
                  </a:lnTo>
                  <a:lnTo>
                    <a:pt x="68094" y="778213"/>
                  </a:lnTo>
                  <a:lnTo>
                    <a:pt x="116732" y="700392"/>
                  </a:lnTo>
                  <a:lnTo>
                    <a:pt x="184826" y="651753"/>
                  </a:lnTo>
                  <a:lnTo>
                    <a:pt x="204281" y="622570"/>
                  </a:lnTo>
                  <a:lnTo>
                    <a:pt x="252919" y="544749"/>
                  </a:lnTo>
                  <a:lnTo>
                    <a:pt x="340468" y="437745"/>
                  </a:lnTo>
                  <a:lnTo>
                    <a:pt x="408562" y="379379"/>
                  </a:lnTo>
                  <a:lnTo>
                    <a:pt x="505839" y="340468"/>
                  </a:lnTo>
                  <a:lnTo>
                    <a:pt x="622571" y="301557"/>
                  </a:lnTo>
                  <a:lnTo>
                    <a:pt x="710119" y="252919"/>
                  </a:lnTo>
                  <a:lnTo>
                    <a:pt x="768485" y="223736"/>
                  </a:lnTo>
                  <a:lnTo>
                    <a:pt x="846307" y="194553"/>
                  </a:lnTo>
                  <a:lnTo>
                    <a:pt x="982494" y="165370"/>
                  </a:lnTo>
                  <a:lnTo>
                    <a:pt x="1138137" y="97277"/>
                  </a:lnTo>
                  <a:lnTo>
                    <a:pt x="1274324" y="77821"/>
                  </a:lnTo>
                  <a:lnTo>
                    <a:pt x="1391056" y="48638"/>
                  </a:lnTo>
                  <a:lnTo>
                    <a:pt x="1536971" y="19455"/>
                  </a:lnTo>
                  <a:lnTo>
                    <a:pt x="1634247" y="19455"/>
                  </a:lnTo>
                  <a:lnTo>
                    <a:pt x="1634247" y="19455"/>
                  </a:lnTo>
                  <a:lnTo>
                    <a:pt x="1819073" y="29183"/>
                  </a:lnTo>
                  <a:lnTo>
                    <a:pt x="1848256" y="29183"/>
                  </a:lnTo>
                  <a:lnTo>
                    <a:pt x="1906622" y="9728"/>
                  </a:lnTo>
                  <a:lnTo>
                    <a:pt x="1994171" y="0"/>
                  </a:lnTo>
                  <a:lnTo>
                    <a:pt x="2120630" y="0"/>
                  </a:lnTo>
                  <a:lnTo>
                    <a:pt x="2237362" y="29183"/>
                  </a:lnTo>
                  <a:lnTo>
                    <a:pt x="2324911" y="58366"/>
                  </a:lnTo>
                  <a:lnTo>
                    <a:pt x="2324911" y="58366"/>
                  </a:lnTo>
                  <a:lnTo>
                    <a:pt x="2198451" y="136187"/>
                  </a:lnTo>
                  <a:lnTo>
                    <a:pt x="2120630" y="194553"/>
                  </a:lnTo>
                  <a:lnTo>
                    <a:pt x="2052537" y="243192"/>
                  </a:lnTo>
                  <a:lnTo>
                    <a:pt x="1964988" y="282102"/>
                  </a:lnTo>
                  <a:lnTo>
                    <a:pt x="1857983" y="359923"/>
                  </a:lnTo>
                  <a:lnTo>
                    <a:pt x="1819073" y="408562"/>
                  </a:lnTo>
                  <a:lnTo>
                    <a:pt x="1780162" y="486383"/>
                  </a:lnTo>
                  <a:lnTo>
                    <a:pt x="1702341" y="622570"/>
                  </a:lnTo>
                  <a:lnTo>
                    <a:pt x="1643975" y="700392"/>
                  </a:lnTo>
                  <a:lnTo>
                    <a:pt x="1643975" y="700392"/>
                  </a:lnTo>
                  <a:lnTo>
                    <a:pt x="1653702" y="836579"/>
                  </a:lnTo>
                  <a:lnTo>
                    <a:pt x="1653702" y="836579"/>
                  </a:lnTo>
                  <a:lnTo>
                    <a:pt x="1663430" y="992221"/>
                  </a:lnTo>
                  <a:lnTo>
                    <a:pt x="1663430" y="992221"/>
                  </a:lnTo>
                  <a:lnTo>
                    <a:pt x="1721796" y="1108953"/>
                  </a:lnTo>
                  <a:lnTo>
                    <a:pt x="1673158" y="1206230"/>
                  </a:lnTo>
                  <a:lnTo>
                    <a:pt x="1634247" y="1245140"/>
                  </a:lnTo>
                  <a:lnTo>
                    <a:pt x="1575881" y="1264596"/>
                  </a:lnTo>
                  <a:lnTo>
                    <a:pt x="1459149" y="1245140"/>
                  </a:lnTo>
                  <a:lnTo>
                    <a:pt x="1361873" y="1264596"/>
                  </a:lnTo>
                  <a:lnTo>
                    <a:pt x="1264596" y="1313234"/>
                  </a:lnTo>
                  <a:lnTo>
                    <a:pt x="1177047" y="1381328"/>
                  </a:lnTo>
                  <a:lnTo>
                    <a:pt x="1021405" y="1478604"/>
                  </a:lnTo>
                  <a:lnTo>
                    <a:pt x="924128" y="1575881"/>
                  </a:lnTo>
                  <a:lnTo>
                    <a:pt x="836579" y="1692613"/>
                  </a:lnTo>
                  <a:lnTo>
                    <a:pt x="797668" y="1809345"/>
                  </a:lnTo>
                  <a:lnTo>
                    <a:pt x="758758" y="1848255"/>
                  </a:lnTo>
                  <a:close/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AB3ABFA-C318-7F40-BF23-2069AC4D9B88}"/>
              </a:ext>
            </a:extLst>
          </p:cNvPr>
          <p:cNvSpPr/>
          <p:nvPr/>
        </p:nvSpPr>
        <p:spPr>
          <a:xfrm>
            <a:off x="2001465" y="1382560"/>
            <a:ext cx="1867711" cy="374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 BA 46 (DLPFC)</a:t>
            </a:r>
          </a:p>
        </p:txBody>
      </p:sp>
    </p:spTree>
    <p:extLst>
      <p:ext uri="{BB962C8B-B14F-4D97-AF65-F5344CB8AC3E}">
        <p14:creationId xmlns:p14="http://schemas.microsoft.com/office/powerpoint/2010/main" val="4225426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 dirty="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“pinging” working memory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sp>
        <p:nvSpPr>
          <p:cNvPr id="23" name="Text Box 11">
            <a:extLst>
              <a:ext uri="{FF2B5EF4-FFF2-40B4-BE49-F238E27FC236}">
                <a16:creationId xmlns:a16="http://schemas.microsoft.com/office/drawing/2014/main" id="{D20E0389-A818-4647-9406-D609FB3A2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8861" y="6488668"/>
            <a:ext cx="16751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>
                <a:latin typeface="Calibri" panose="020F0502020204030204" pitchFamily="34" charset="0"/>
              </a:rPr>
              <a:t>Wolff et al 2017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EB7FC6-C402-1D45-8F45-5DF399F85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76" y="1318968"/>
            <a:ext cx="4819208" cy="1208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776204-B36F-0D47-A810-6B96F1554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77" y="4189511"/>
            <a:ext cx="1886006" cy="20729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AD0693-5DDA-6E47-B78F-88B0EC5EFE1B}"/>
              </a:ext>
            </a:extLst>
          </p:cNvPr>
          <p:cNvSpPr txBox="1"/>
          <p:nvPr/>
        </p:nvSpPr>
        <p:spPr>
          <a:xfrm>
            <a:off x="374070" y="2696936"/>
            <a:ext cx="526266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During a working memory task, the sensory stimulus can initially be decoded but the neural code gradually fades</a:t>
            </a:r>
          </a:p>
          <a:p>
            <a:endParaRPr lang="en-US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ED3158-D470-714E-AD6C-0C79715B7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640" y="1130125"/>
            <a:ext cx="2943062" cy="28126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B9DB1F-BB4C-3D4D-AA0F-69AD254D8E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031" y="4094611"/>
            <a:ext cx="2200829" cy="247973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7273FC0-1BC4-BF47-876F-CFDACA41A003}"/>
              </a:ext>
            </a:extLst>
          </p:cNvPr>
          <p:cNvSpPr txBox="1"/>
          <p:nvPr/>
        </p:nvSpPr>
        <p:spPr>
          <a:xfrm>
            <a:off x="5157223" y="4389715"/>
            <a:ext cx="376589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however, the WM stimulus can be re-evoked by a strong sensory input, because this “opens the gate”</a:t>
            </a:r>
          </a:p>
          <a:p>
            <a:endParaRPr lang="en-US" sz="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DD0CA0-8068-9849-B69C-C5C3957E7F7E}"/>
              </a:ext>
            </a:extLst>
          </p:cNvPr>
          <p:cNvSpPr/>
          <p:nvPr/>
        </p:nvSpPr>
        <p:spPr>
          <a:xfrm>
            <a:off x="8377008" y="1112883"/>
            <a:ext cx="269387" cy="3259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371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0F55F10B-7F98-B640-AF28-668D3665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3600">
              <a:latin typeface="Calibri" panose="020F0502020204030204" pitchFamily="34" charset="0"/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58305BA-1711-5842-8EA6-C2F46E7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916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600" dirty="0">
                <a:latin typeface="Calibri" panose="020F0502020204030204" pitchFamily="34" charset="0"/>
              </a:rPr>
              <a:t>Parietal and prefrontal cortices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AD1E84-FD50-1743-BDF4-2943C07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31" y="0"/>
            <a:ext cx="1052370" cy="1052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A69FAF-A2AE-C148-9529-450A2CB54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083" y="3714619"/>
            <a:ext cx="3523768" cy="284586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A522AF9-6AE0-4046-9AA1-D76AF2C201FD}"/>
              </a:ext>
            </a:extLst>
          </p:cNvPr>
          <p:cNvSpPr/>
          <p:nvPr/>
        </p:nvSpPr>
        <p:spPr>
          <a:xfrm>
            <a:off x="2806074" y="3864043"/>
            <a:ext cx="1460500" cy="914400"/>
          </a:xfrm>
          <a:custGeom>
            <a:avLst/>
            <a:gdLst>
              <a:gd name="connsiteX0" fmla="*/ 76200 w 1460500"/>
              <a:gd name="connsiteY0" fmla="*/ 914400 h 914400"/>
              <a:gd name="connsiteX1" fmla="*/ 0 w 1460500"/>
              <a:gd name="connsiteY1" fmla="*/ 812800 h 914400"/>
              <a:gd name="connsiteX2" fmla="*/ 12700 w 1460500"/>
              <a:gd name="connsiteY2" fmla="*/ 749300 h 914400"/>
              <a:gd name="connsiteX3" fmla="*/ 0 w 1460500"/>
              <a:gd name="connsiteY3" fmla="*/ 635000 h 914400"/>
              <a:gd name="connsiteX4" fmla="*/ 50800 w 1460500"/>
              <a:gd name="connsiteY4" fmla="*/ 533400 h 914400"/>
              <a:gd name="connsiteX5" fmla="*/ 139700 w 1460500"/>
              <a:gd name="connsiteY5" fmla="*/ 419100 h 914400"/>
              <a:gd name="connsiteX6" fmla="*/ 165100 w 1460500"/>
              <a:gd name="connsiteY6" fmla="*/ 355600 h 914400"/>
              <a:gd name="connsiteX7" fmla="*/ 203200 w 1460500"/>
              <a:gd name="connsiteY7" fmla="*/ 292100 h 914400"/>
              <a:gd name="connsiteX8" fmla="*/ 203200 w 1460500"/>
              <a:gd name="connsiteY8" fmla="*/ 292100 h 914400"/>
              <a:gd name="connsiteX9" fmla="*/ 393700 w 1460500"/>
              <a:gd name="connsiteY9" fmla="*/ 165100 h 914400"/>
              <a:gd name="connsiteX10" fmla="*/ 457200 w 1460500"/>
              <a:gd name="connsiteY10" fmla="*/ 139700 h 914400"/>
              <a:gd name="connsiteX11" fmla="*/ 546100 w 1460500"/>
              <a:gd name="connsiteY11" fmla="*/ 63500 h 914400"/>
              <a:gd name="connsiteX12" fmla="*/ 622300 w 1460500"/>
              <a:gd name="connsiteY12" fmla="*/ 12700 h 914400"/>
              <a:gd name="connsiteX13" fmla="*/ 673100 w 1460500"/>
              <a:gd name="connsiteY13" fmla="*/ 0 h 914400"/>
              <a:gd name="connsiteX14" fmla="*/ 749300 w 1460500"/>
              <a:gd name="connsiteY14" fmla="*/ 0 h 914400"/>
              <a:gd name="connsiteX15" fmla="*/ 812800 w 1460500"/>
              <a:gd name="connsiteY15" fmla="*/ 12700 h 914400"/>
              <a:gd name="connsiteX16" fmla="*/ 876300 w 1460500"/>
              <a:gd name="connsiteY16" fmla="*/ 38100 h 914400"/>
              <a:gd name="connsiteX17" fmla="*/ 927100 w 1460500"/>
              <a:gd name="connsiteY17" fmla="*/ 76200 h 914400"/>
              <a:gd name="connsiteX18" fmla="*/ 1003300 w 1460500"/>
              <a:gd name="connsiteY18" fmla="*/ 101600 h 914400"/>
              <a:gd name="connsiteX19" fmla="*/ 1104900 w 1460500"/>
              <a:gd name="connsiteY19" fmla="*/ 177800 h 914400"/>
              <a:gd name="connsiteX20" fmla="*/ 1155700 w 1460500"/>
              <a:gd name="connsiteY20" fmla="*/ 215900 h 914400"/>
              <a:gd name="connsiteX21" fmla="*/ 1193800 w 1460500"/>
              <a:gd name="connsiteY21" fmla="*/ 241300 h 914400"/>
              <a:gd name="connsiteX22" fmla="*/ 1206500 w 1460500"/>
              <a:gd name="connsiteY22" fmla="*/ 292100 h 914400"/>
              <a:gd name="connsiteX23" fmla="*/ 1231900 w 1460500"/>
              <a:gd name="connsiteY23" fmla="*/ 330200 h 914400"/>
              <a:gd name="connsiteX24" fmla="*/ 1270000 w 1460500"/>
              <a:gd name="connsiteY24" fmla="*/ 355600 h 914400"/>
              <a:gd name="connsiteX25" fmla="*/ 1320800 w 1460500"/>
              <a:gd name="connsiteY25" fmla="*/ 393700 h 914400"/>
              <a:gd name="connsiteX26" fmla="*/ 1384300 w 1460500"/>
              <a:gd name="connsiteY26" fmla="*/ 431800 h 914400"/>
              <a:gd name="connsiteX27" fmla="*/ 1409700 w 1460500"/>
              <a:gd name="connsiteY27" fmla="*/ 482600 h 914400"/>
              <a:gd name="connsiteX28" fmla="*/ 1460500 w 1460500"/>
              <a:gd name="connsiteY28" fmla="*/ 558800 h 914400"/>
              <a:gd name="connsiteX29" fmla="*/ 1397000 w 1460500"/>
              <a:gd name="connsiteY29" fmla="*/ 558800 h 914400"/>
              <a:gd name="connsiteX30" fmla="*/ 1257300 w 1460500"/>
              <a:gd name="connsiteY30" fmla="*/ 558800 h 914400"/>
              <a:gd name="connsiteX31" fmla="*/ 1181100 w 1460500"/>
              <a:gd name="connsiteY31" fmla="*/ 546100 h 914400"/>
              <a:gd name="connsiteX32" fmla="*/ 1054100 w 1460500"/>
              <a:gd name="connsiteY32" fmla="*/ 558800 h 914400"/>
              <a:gd name="connsiteX33" fmla="*/ 1054100 w 1460500"/>
              <a:gd name="connsiteY33" fmla="*/ 558800 h 914400"/>
              <a:gd name="connsiteX34" fmla="*/ 901700 w 1460500"/>
              <a:gd name="connsiteY34" fmla="*/ 571500 h 914400"/>
              <a:gd name="connsiteX35" fmla="*/ 762000 w 1460500"/>
              <a:gd name="connsiteY35" fmla="*/ 584200 h 914400"/>
              <a:gd name="connsiteX36" fmla="*/ 698500 w 1460500"/>
              <a:gd name="connsiteY36" fmla="*/ 584200 h 914400"/>
              <a:gd name="connsiteX37" fmla="*/ 660400 w 1460500"/>
              <a:gd name="connsiteY37" fmla="*/ 584200 h 914400"/>
              <a:gd name="connsiteX38" fmla="*/ 596900 w 1460500"/>
              <a:gd name="connsiteY38" fmla="*/ 635000 h 914400"/>
              <a:gd name="connsiteX39" fmla="*/ 546100 w 1460500"/>
              <a:gd name="connsiteY39" fmla="*/ 698500 h 914400"/>
              <a:gd name="connsiteX40" fmla="*/ 469900 w 1460500"/>
              <a:gd name="connsiteY40" fmla="*/ 749300 h 914400"/>
              <a:gd name="connsiteX41" fmla="*/ 431800 w 1460500"/>
              <a:gd name="connsiteY41" fmla="*/ 787400 h 914400"/>
              <a:gd name="connsiteX42" fmla="*/ 368300 w 1460500"/>
              <a:gd name="connsiteY42" fmla="*/ 800100 h 914400"/>
              <a:gd name="connsiteX43" fmla="*/ 254000 w 1460500"/>
              <a:gd name="connsiteY43" fmla="*/ 812800 h 914400"/>
              <a:gd name="connsiteX44" fmla="*/ 190500 w 1460500"/>
              <a:gd name="connsiteY44" fmla="*/ 825500 h 914400"/>
              <a:gd name="connsiteX45" fmla="*/ 165100 w 1460500"/>
              <a:gd name="connsiteY45" fmla="*/ 863600 h 914400"/>
              <a:gd name="connsiteX46" fmla="*/ 127000 w 1460500"/>
              <a:gd name="connsiteY46" fmla="*/ 889000 h 914400"/>
              <a:gd name="connsiteX47" fmla="*/ 76200 w 1460500"/>
              <a:gd name="connsiteY47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460500" h="914400">
                <a:moveTo>
                  <a:pt x="76200" y="914400"/>
                </a:moveTo>
                <a:lnTo>
                  <a:pt x="0" y="812800"/>
                </a:lnTo>
                <a:lnTo>
                  <a:pt x="12700" y="749300"/>
                </a:lnTo>
                <a:lnTo>
                  <a:pt x="0" y="635000"/>
                </a:lnTo>
                <a:lnTo>
                  <a:pt x="50800" y="533400"/>
                </a:lnTo>
                <a:lnTo>
                  <a:pt x="139700" y="419100"/>
                </a:lnTo>
                <a:lnTo>
                  <a:pt x="165100" y="355600"/>
                </a:lnTo>
                <a:lnTo>
                  <a:pt x="203200" y="292100"/>
                </a:lnTo>
                <a:lnTo>
                  <a:pt x="203200" y="292100"/>
                </a:lnTo>
                <a:lnTo>
                  <a:pt x="393700" y="165100"/>
                </a:lnTo>
                <a:lnTo>
                  <a:pt x="457200" y="139700"/>
                </a:lnTo>
                <a:lnTo>
                  <a:pt x="546100" y="63500"/>
                </a:lnTo>
                <a:lnTo>
                  <a:pt x="622300" y="12700"/>
                </a:lnTo>
                <a:lnTo>
                  <a:pt x="673100" y="0"/>
                </a:lnTo>
                <a:lnTo>
                  <a:pt x="749300" y="0"/>
                </a:lnTo>
                <a:lnTo>
                  <a:pt x="812800" y="12700"/>
                </a:lnTo>
                <a:lnTo>
                  <a:pt x="876300" y="38100"/>
                </a:lnTo>
                <a:lnTo>
                  <a:pt x="927100" y="76200"/>
                </a:lnTo>
                <a:lnTo>
                  <a:pt x="1003300" y="101600"/>
                </a:lnTo>
                <a:lnTo>
                  <a:pt x="1104900" y="177800"/>
                </a:lnTo>
                <a:lnTo>
                  <a:pt x="1155700" y="215900"/>
                </a:lnTo>
                <a:lnTo>
                  <a:pt x="1193800" y="241300"/>
                </a:lnTo>
                <a:lnTo>
                  <a:pt x="1206500" y="292100"/>
                </a:lnTo>
                <a:lnTo>
                  <a:pt x="1231900" y="330200"/>
                </a:lnTo>
                <a:lnTo>
                  <a:pt x="1270000" y="355600"/>
                </a:lnTo>
                <a:lnTo>
                  <a:pt x="1320800" y="393700"/>
                </a:lnTo>
                <a:lnTo>
                  <a:pt x="1384300" y="431800"/>
                </a:lnTo>
                <a:lnTo>
                  <a:pt x="1409700" y="482600"/>
                </a:lnTo>
                <a:lnTo>
                  <a:pt x="1460500" y="558800"/>
                </a:lnTo>
                <a:lnTo>
                  <a:pt x="1397000" y="558800"/>
                </a:lnTo>
                <a:lnTo>
                  <a:pt x="1257300" y="558800"/>
                </a:lnTo>
                <a:lnTo>
                  <a:pt x="1181100" y="546100"/>
                </a:lnTo>
                <a:lnTo>
                  <a:pt x="1054100" y="558800"/>
                </a:lnTo>
                <a:lnTo>
                  <a:pt x="1054100" y="558800"/>
                </a:lnTo>
                <a:lnTo>
                  <a:pt x="901700" y="571500"/>
                </a:lnTo>
                <a:lnTo>
                  <a:pt x="762000" y="584200"/>
                </a:lnTo>
                <a:lnTo>
                  <a:pt x="698500" y="584200"/>
                </a:lnTo>
                <a:lnTo>
                  <a:pt x="660400" y="584200"/>
                </a:lnTo>
                <a:lnTo>
                  <a:pt x="596900" y="635000"/>
                </a:lnTo>
                <a:lnTo>
                  <a:pt x="546100" y="698500"/>
                </a:lnTo>
                <a:lnTo>
                  <a:pt x="469900" y="749300"/>
                </a:lnTo>
                <a:lnTo>
                  <a:pt x="431800" y="787400"/>
                </a:lnTo>
                <a:lnTo>
                  <a:pt x="368300" y="800100"/>
                </a:lnTo>
                <a:lnTo>
                  <a:pt x="254000" y="812800"/>
                </a:lnTo>
                <a:lnTo>
                  <a:pt x="190500" y="825500"/>
                </a:lnTo>
                <a:lnTo>
                  <a:pt x="165100" y="863600"/>
                </a:lnTo>
                <a:lnTo>
                  <a:pt x="127000" y="889000"/>
                </a:lnTo>
                <a:lnTo>
                  <a:pt x="76200" y="914400"/>
                </a:lnTo>
                <a:close/>
              </a:path>
            </a:pathLst>
          </a:custGeom>
          <a:noFill/>
          <a:ln w="762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FAEC165-80F0-7C42-AF9D-EAA0F75E519A}"/>
              </a:ext>
            </a:extLst>
          </p:cNvPr>
          <p:cNvSpPr/>
          <p:nvPr/>
        </p:nvSpPr>
        <p:spPr>
          <a:xfrm>
            <a:off x="1102299" y="3725693"/>
            <a:ext cx="2324911" cy="1848255"/>
          </a:xfrm>
          <a:custGeom>
            <a:avLst/>
            <a:gdLst>
              <a:gd name="connsiteX0" fmla="*/ 758758 w 2324911"/>
              <a:gd name="connsiteY0" fmla="*/ 1848255 h 1848255"/>
              <a:gd name="connsiteX1" fmla="*/ 525294 w 2324911"/>
              <a:gd name="connsiteY1" fmla="*/ 1848255 h 1848255"/>
              <a:gd name="connsiteX2" fmla="*/ 379379 w 2324911"/>
              <a:gd name="connsiteY2" fmla="*/ 1799617 h 1848255"/>
              <a:gd name="connsiteX3" fmla="*/ 291830 w 2324911"/>
              <a:gd name="connsiteY3" fmla="*/ 1731523 h 1848255"/>
              <a:gd name="connsiteX4" fmla="*/ 214009 w 2324911"/>
              <a:gd name="connsiteY4" fmla="*/ 1653702 h 1848255"/>
              <a:gd name="connsiteX5" fmla="*/ 126460 w 2324911"/>
              <a:gd name="connsiteY5" fmla="*/ 1556426 h 1848255"/>
              <a:gd name="connsiteX6" fmla="*/ 97277 w 2324911"/>
              <a:gd name="connsiteY6" fmla="*/ 1517515 h 1848255"/>
              <a:gd name="connsiteX7" fmla="*/ 77822 w 2324911"/>
              <a:gd name="connsiteY7" fmla="*/ 1449421 h 1848255"/>
              <a:gd name="connsiteX8" fmla="*/ 58366 w 2324911"/>
              <a:gd name="connsiteY8" fmla="*/ 1342417 h 1848255"/>
              <a:gd name="connsiteX9" fmla="*/ 38911 w 2324911"/>
              <a:gd name="connsiteY9" fmla="*/ 1303506 h 1848255"/>
              <a:gd name="connsiteX10" fmla="*/ 0 w 2324911"/>
              <a:gd name="connsiteY10" fmla="*/ 1245140 h 1848255"/>
              <a:gd name="connsiteX11" fmla="*/ 0 w 2324911"/>
              <a:gd name="connsiteY11" fmla="*/ 1186775 h 1848255"/>
              <a:gd name="connsiteX12" fmla="*/ 29183 w 2324911"/>
              <a:gd name="connsiteY12" fmla="*/ 1060315 h 1848255"/>
              <a:gd name="connsiteX13" fmla="*/ 38911 w 2324911"/>
              <a:gd name="connsiteY13" fmla="*/ 1011677 h 1848255"/>
              <a:gd name="connsiteX14" fmla="*/ 38911 w 2324911"/>
              <a:gd name="connsiteY14" fmla="*/ 1011677 h 1848255"/>
              <a:gd name="connsiteX15" fmla="*/ 19456 w 2324911"/>
              <a:gd name="connsiteY15" fmla="*/ 894945 h 1848255"/>
              <a:gd name="connsiteX16" fmla="*/ 68094 w 2324911"/>
              <a:gd name="connsiteY16" fmla="*/ 836579 h 1848255"/>
              <a:gd name="connsiteX17" fmla="*/ 68094 w 2324911"/>
              <a:gd name="connsiteY17" fmla="*/ 778213 h 1848255"/>
              <a:gd name="connsiteX18" fmla="*/ 116732 w 2324911"/>
              <a:gd name="connsiteY18" fmla="*/ 700392 h 1848255"/>
              <a:gd name="connsiteX19" fmla="*/ 184826 w 2324911"/>
              <a:gd name="connsiteY19" fmla="*/ 651753 h 1848255"/>
              <a:gd name="connsiteX20" fmla="*/ 204281 w 2324911"/>
              <a:gd name="connsiteY20" fmla="*/ 622570 h 1848255"/>
              <a:gd name="connsiteX21" fmla="*/ 252919 w 2324911"/>
              <a:gd name="connsiteY21" fmla="*/ 544749 h 1848255"/>
              <a:gd name="connsiteX22" fmla="*/ 340468 w 2324911"/>
              <a:gd name="connsiteY22" fmla="*/ 437745 h 1848255"/>
              <a:gd name="connsiteX23" fmla="*/ 408562 w 2324911"/>
              <a:gd name="connsiteY23" fmla="*/ 379379 h 1848255"/>
              <a:gd name="connsiteX24" fmla="*/ 505839 w 2324911"/>
              <a:gd name="connsiteY24" fmla="*/ 340468 h 1848255"/>
              <a:gd name="connsiteX25" fmla="*/ 622571 w 2324911"/>
              <a:gd name="connsiteY25" fmla="*/ 301557 h 1848255"/>
              <a:gd name="connsiteX26" fmla="*/ 710119 w 2324911"/>
              <a:gd name="connsiteY26" fmla="*/ 252919 h 1848255"/>
              <a:gd name="connsiteX27" fmla="*/ 768485 w 2324911"/>
              <a:gd name="connsiteY27" fmla="*/ 223736 h 1848255"/>
              <a:gd name="connsiteX28" fmla="*/ 846307 w 2324911"/>
              <a:gd name="connsiteY28" fmla="*/ 194553 h 1848255"/>
              <a:gd name="connsiteX29" fmla="*/ 982494 w 2324911"/>
              <a:gd name="connsiteY29" fmla="*/ 165370 h 1848255"/>
              <a:gd name="connsiteX30" fmla="*/ 1138137 w 2324911"/>
              <a:gd name="connsiteY30" fmla="*/ 97277 h 1848255"/>
              <a:gd name="connsiteX31" fmla="*/ 1274324 w 2324911"/>
              <a:gd name="connsiteY31" fmla="*/ 77821 h 1848255"/>
              <a:gd name="connsiteX32" fmla="*/ 1391056 w 2324911"/>
              <a:gd name="connsiteY32" fmla="*/ 48638 h 1848255"/>
              <a:gd name="connsiteX33" fmla="*/ 1536971 w 2324911"/>
              <a:gd name="connsiteY33" fmla="*/ 19455 h 1848255"/>
              <a:gd name="connsiteX34" fmla="*/ 1634247 w 2324911"/>
              <a:gd name="connsiteY34" fmla="*/ 19455 h 1848255"/>
              <a:gd name="connsiteX35" fmla="*/ 1634247 w 2324911"/>
              <a:gd name="connsiteY35" fmla="*/ 19455 h 1848255"/>
              <a:gd name="connsiteX36" fmla="*/ 1819073 w 2324911"/>
              <a:gd name="connsiteY36" fmla="*/ 29183 h 1848255"/>
              <a:gd name="connsiteX37" fmla="*/ 1848256 w 2324911"/>
              <a:gd name="connsiteY37" fmla="*/ 29183 h 1848255"/>
              <a:gd name="connsiteX38" fmla="*/ 1906622 w 2324911"/>
              <a:gd name="connsiteY38" fmla="*/ 9728 h 1848255"/>
              <a:gd name="connsiteX39" fmla="*/ 1994171 w 2324911"/>
              <a:gd name="connsiteY39" fmla="*/ 0 h 1848255"/>
              <a:gd name="connsiteX40" fmla="*/ 2120630 w 2324911"/>
              <a:gd name="connsiteY40" fmla="*/ 0 h 1848255"/>
              <a:gd name="connsiteX41" fmla="*/ 2237362 w 2324911"/>
              <a:gd name="connsiteY41" fmla="*/ 29183 h 1848255"/>
              <a:gd name="connsiteX42" fmla="*/ 2324911 w 2324911"/>
              <a:gd name="connsiteY42" fmla="*/ 58366 h 1848255"/>
              <a:gd name="connsiteX43" fmla="*/ 2324911 w 2324911"/>
              <a:gd name="connsiteY43" fmla="*/ 58366 h 1848255"/>
              <a:gd name="connsiteX44" fmla="*/ 2198451 w 2324911"/>
              <a:gd name="connsiteY44" fmla="*/ 136187 h 1848255"/>
              <a:gd name="connsiteX45" fmla="*/ 2120630 w 2324911"/>
              <a:gd name="connsiteY45" fmla="*/ 194553 h 1848255"/>
              <a:gd name="connsiteX46" fmla="*/ 2052537 w 2324911"/>
              <a:gd name="connsiteY46" fmla="*/ 243192 h 1848255"/>
              <a:gd name="connsiteX47" fmla="*/ 1964988 w 2324911"/>
              <a:gd name="connsiteY47" fmla="*/ 282102 h 1848255"/>
              <a:gd name="connsiteX48" fmla="*/ 1857983 w 2324911"/>
              <a:gd name="connsiteY48" fmla="*/ 359923 h 1848255"/>
              <a:gd name="connsiteX49" fmla="*/ 1819073 w 2324911"/>
              <a:gd name="connsiteY49" fmla="*/ 408562 h 1848255"/>
              <a:gd name="connsiteX50" fmla="*/ 1780162 w 2324911"/>
              <a:gd name="connsiteY50" fmla="*/ 486383 h 1848255"/>
              <a:gd name="connsiteX51" fmla="*/ 1702341 w 2324911"/>
              <a:gd name="connsiteY51" fmla="*/ 622570 h 1848255"/>
              <a:gd name="connsiteX52" fmla="*/ 1643975 w 2324911"/>
              <a:gd name="connsiteY52" fmla="*/ 700392 h 1848255"/>
              <a:gd name="connsiteX53" fmla="*/ 1643975 w 2324911"/>
              <a:gd name="connsiteY53" fmla="*/ 700392 h 1848255"/>
              <a:gd name="connsiteX54" fmla="*/ 1653702 w 2324911"/>
              <a:gd name="connsiteY54" fmla="*/ 836579 h 1848255"/>
              <a:gd name="connsiteX55" fmla="*/ 1653702 w 2324911"/>
              <a:gd name="connsiteY55" fmla="*/ 836579 h 1848255"/>
              <a:gd name="connsiteX56" fmla="*/ 1663430 w 2324911"/>
              <a:gd name="connsiteY56" fmla="*/ 992221 h 1848255"/>
              <a:gd name="connsiteX57" fmla="*/ 1663430 w 2324911"/>
              <a:gd name="connsiteY57" fmla="*/ 992221 h 1848255"/>
              <a:gd name="connsiteX58" fmla="*/ 1721796 w 2324911"/>
              <a:gd name="connsiteY58" fmla="*/ 1108953 h 1848255"/>
              <a:gd name="connsiteX59" fmla="*/ 1673158 w 2324911"/>
              <a:gd name="connsiteY59" fmla="*/ 1206230 h 1848255"/>
              <a:gd name="connsiteX60" fmla="*/ 1634247 w 2324911"/>
              <a:gd name="connsiteY60" fmla="*/ 1245140 h 1848255"/>
              <a:gd name="connsiteX61" fmla="*/ 1575881 w 2324911"/>
              <a:gd name="connsiteY61" fmla="*/ 1264596 h 1848255"/>
              <a:gd name="connsiteX62" fmla="*/ 1459149 w 2324911"/>
              <a:gd name="connsiteY62" fmla="*/ 1245140 h 1848255"/>
              <a:gd name="connsiteX63" fmla="*/ 1361873 w 2324911"/>
              <a:gd name="connsiteY63" fmla="*/ 1264596 h 1848255"/>
              <a:gd name="connsiteX64" fmla="*/ 1264596 w 2324911"/>
              <a:gd name="connsiteY64" fmla="*/ 1313234 h 1848255"/>
              <a:gd name="connsiteX65" fmla="*/ 1177047 w 2324911"/>
              <a:gd name="connsiteY65" fmla="*/ 1381328 h 1848255"/>
              <a:gd name="connsiteX66" fmla="*/ 1021405 w 2324911"/>
              <a:gd name="connsiteY66" fmla="*/ 1478604 h 1848255"/>
              <a:gd name="connsiteX67" fmla="*/ 924128 w 2324911"/>
              <a:gd name="connsiteY67" fmla="*/ 1575881 h 1848255"/>
              <a:gd name="connsiteX68" fmla="*/ 836579 w 2324911"/>
              <a:gd name="connsiteY68" fmla="*/ 1692613 h 1848255"/>
              <a:gd name="connsiteX69" fmla="*/ 797668 w 2324911"/>
              <a:gd name="connsiteY69" fmla="*/ 1809345 h 1848255"/>
              <a:gd name="connsiteX70" fmla="*/ 758758 w 2324911"/>
              <a:gd name="connsiteY70" fmla="*/ 1848255 h 1848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324911" h="1848255">
                <a:moveTo>
                  <a:pt x="758758" y="1848255"/>
                </a:moveTo>
                <a:lnTo>
                  <a:pt x="525294" y="1848255"/>
                </a:lnTo>
                <a:lnTo>
                  <a:pt x="379379" y="1799617"/>
                </a:lnTo>
                <a:lnTo>
                  <a:pt x="291830" y="1731523"/>
                </a:lnTo>
                <a:lnTo>
                  <a:pt x="214009" y="1653702"/>
                </a:lnTo>
                <a:lnTo>
                  <a:pt x="126460" y="1556426"/>
                </a:lnTo>
                <a:lnTo>
                  <a:pt x="97277" y="1517515"/>
                </a:lnTo>
                <a:lnTo>
                  <a:pt x="77822" y="1449421"/>
                </a:lnTo>
                <a:lnTo>
                  <a:pt x="58366" y="1342417"/>
                </a:lnTo>
                <a:lnTo>
                  <a:pt x="38911" y="1303506"/>
                </a:lnTo>
                <a:lnTo>
                  <a:pt x="0" y="1245140"/>
                </a:lnTo>
                <a:lnTo>
                  <a:pt x="0" y="1186775"/>
                </a:lnTo>
                <a:lnTo>
                  <a:pt x="29183" y="1060315"/>
                </a:lnTo>
                <a:lnTo>
                  <a:pt x="38911" y="1011677"/>
                </a:lnTo>
                <a:lnTo>
                  <a:pt x="38911" y="1011677"/>
                </a:lnTo>
                <a:lnTo>
                  <a:pt x="19456" y="894945"/>
                </a:lnTo>
                <a:lnTo>
                  <a:pt x="68094" y="836579"/>
                </a:lnTo>
                <a:lnTo>
                  <a:pt x="68094" y="778213"/>
                </a:lnTo>
                <a:lnTo>
                  <a:pt x="116732" y="700392"/>
                </a:lnTo>
                <a:lnTo>
                  <a:pt x="184826" y="651753"/>
                </a:lnTo>
                <a:lnTo>
                  <a:pt x="204281" y="622570"/>
                </a:lnTo>
                <a:lnTo>
                  <a:pt x="252919" y="544749"/>
                </a:lnTo>
                <a:lnTo>
                  <a:pt x="340468" y="437745"/>
                </a:lnTo>
                <a:lnTo>
                  <a:pt x="408562" y="379379"/>
                </a:lnTo>
                <a:lnTo>
                  <a:pt x="505839" y="340468"/>
                </a:lnTo>
                <a:lnTo>
                  <a:pt x="622571" y="301557"/>
                </a:lnTo>
                <a:lnTo>
                  <a:pt x="710119" y="252919"/>
                </a:lnTo>
                <a:lnTo>
                  <a:pt x="768485" y="223736"/>
                </a:lnTo>
                <a:lnTo>
                  <a:pt x="846307" y="194553"/>
                </a:lnTo>
                <a:lnTo>
                  <a:pt x="982494" y="165370"/>
                </a:lnTo>
                <a:lnTo>
                  <a:pt x="1138137" y="97277"/>
                </a:lnTo>
                <a:lnTo>
                  <a:pt x="1274324" y="77821"/>
                </a:lnTo>
                <a:lnTo>
                  <a:pt x="1391056" y="48638"/>
                </a:lnTo>
                <a:lnTo>
                  <a:pt x="1536971" y="19455"/>
                </a:lnTo>
                <a:lnTo>
                  <a:pt x="1634247" y="19455"/>
                </a:lnTo>
                <a:lnTo>
                  <a:pt x="1634247" y="19455"/>
                </a:lnTo>
                <a:lnTo>
                  <a:pt x="1819073" y="29183"/>
                </a:lnTo>
                <a:lnTo>
                  <a:pt x="1848256" y="29183"/>
                </a:lnTo>
                <a:lnTo>
                  <a:pt x="1906622" y="9728"/>
                </a:lnTo>
                <a:lnTo>
                  <a:pt x="1994171" y="0"/>
                </a:lnTo>
                <a:lnTo>
                  <a:pt x="2120630" y="0"/>
                </a:lnTo>
                <a:lnTo>
                  <a:pt x="2237362" y="29183"/>
                </a:lnTo>
                <a:lnTo>
                  <a:pt x="2324911" y="58366"/>
                </a:lnTo>
                <a:lnTo>
                  <a:pt x="2324911" y="58366"/>
                </a:lnTo>
                <a:lnTo>
                  <a:pt x="2198451" y="136187"/>
                </a:lnTo>
                <a:lnTo>
                  <a:pt x="2120630" y="194553"/>
                </a:lnTo>
                <a:lnTo>
                  <a:pt x="2052537" y="243192"/>
                </a:lnTo>
                <a:lnTo>
                  <a:pt x="1964988" y="282102"/>
                </a:lnTo>
                <a:lnTo>
                  <a:pt x="1857983" y="359923"/>
                </a:lnTo>
                <a:lnTo>
                  <a:pt x="1819073" y="408562"/>
                </a:lnTo>
                <a:lnTo>
                  <a:pt x="1780162" y="486383"/>
                </a:lnTo>
                <a:lnTo>
                  <a:pt x="1702341" y="622570"/>
                </a:lnTo>
                <a:lnTo>
                  <a:pt x="1643975" y="700392"/>
                </a:lnTo>
                <a:lnTo>
                  <a:pt x="1643975" y="700392"/>
                </a:lnTo>
                <a:lnTo>
                  <a:pt x="1653702" y="836579"/>
                </a:lnTo>
                <a:lnTo>
                  <a:pt x="1653702" y="836579"/>
                </a:lnTo>
                <a:lnTo>
                  <a:pt x="1663430" y="992221"/>
                </a:lnTo>
                <a:lnTo>
                  <a:pt x="1663430" y="992221"/>
                </a:lnTo>
                <a:lnTo>
                  <a:pt x="1721796" y="1108953"/>
                </a:lnTo>
                <a:lnTo>
                  <a:pt x="1673158" y="1206230"/>
                </a:lnTo>
                <a:lnTo>
                  <a:pt x="1634247" y="1245140"/>
                </a:lnTo>
                <a:lnTo>
                  <a:pt x="1575881" y="1264596"/>
                </a:lnTo>
                <a:lnTo>
                  <a:pt x="1459149" y="1245140"/>
                </a:lnTo>
                <a:lnTo>
                  <a:pt x="1361873" y="1264596"/>
                </a:lnTo>
                <a:lnTo>
                  <a:pt x="1264596" y="1313234"/>
                </a:lnTo>
                <a:lnTo>
                  <a:pt x="1177047" y="1381328"/>
                </a:lnTo>
                <a:lnTo>
                  <a:pt x="1021405" y="1478604"/>
                </a:lnTo>
                <a:lnTo>
                  <a:pt x="924128" y="1575881"/>
                </a:lnTo>
                <a:lnTo>
                  <a:pt x="836579" y="1692613"/>
                </a:lnTo>
                <a:lnTo>
                  <a:pt x="797668" y="1809345"/>
                </a:lnTo>
                <a:lnTo>
                  <a:pt x="758758" y="1848255"/>
                </a:lnTo>
                <a:close/>
              </a:path>
            </a:pathLst>
          </a:custGeom>
          <a:noFill/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4532E7-B73C-3F4B-9C27-37E53ED407AE}"/>
              </a:ext>
            </a:extLst>
          </p:cNvPr>
          <p:cNvSpPr txBox="1"/>
          <p:nvPr/>
        </p:nvSpPr>
        <p:spPr>
          <a:xfrm>
            <a:off x="3536972" y="3231084"/>
            <a:ext cx="1671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parietal cortex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EE59AA-BD1E-A24B-8D04-A97B66BDA457}"/>
              </a:ext>
            </a:extLst>
          </p:cNvPr>
          <p:cNvSpPr txBox="1"/>
          <p:nvPr/>
        </p:nvSpPr>
        <p:spPr>
          <a:xfrm>
            <a:off x="383404" y="3114327"/>
            <a:ext cx="2059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prefrontal cortex</a:t>
            </a:r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5F7DB23E-CC9A-3D4F-90D3-79AE637F9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8656" y="3439615"/>
            <a:ext cx="3585344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>
                <a:solidFill>
                  <a:srgbClr val="7030A0"/>
                </a:solidFill>
                <a:latin typeface="Calibri" panose="020F0502020204030204" pitchFamily="34" charset="0"/>
              </a:rPr>
              <a:t>The parietal cortex is involved in integration of information over short timescales for rapid sensorimotor decisions</a:t>
            </a:r>
            <a:endParaRPr lang="en-US" altLang="en-US" sz="2800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E0E0B463-29BA-F046-AED6-6EB5862D4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029" y="1342518"/>
            <a:ext cx="795376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>
                <a:solidFill>
                  <a:srgbClr val="00B050"/>
                </a:solidFill>
                <a:latin typeface="Calibri" panose="020F0502020204030204" pitchFamily="34" charset="0"/>
              </a:rPr>
              <a:t>The prefrontal cortex may be responsible for selecting outputs over multiple (longer) timescales, e.g. during language production and complex motor control</a:t>
            </a:r>
            <a:endParaRPr lang="en-US" altLang="en-US" sz="2800" dirty="0">
              <a:solidFill>
                <a:srgbClr val="00B05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747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53739</TotalTime>
  <Words>1092</Words>
  <Application>Microsoft Macintosh PowerPoint</Application>
  <PresentationFormat>On-screen Show (4:3)</PresentationFormat>
  <Paragraphs>169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Times New Roman</vt:lpstr>
      <vt:lpstr>Office Theme</vt:lpstr>
      <vt:lpstr>How to build a brain from scratch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build a brain from scratch </dc:title>
  <dc:creator>C Summerfield</dc:creator>
  <cp:lastModifiedBy>Christopher Summerfield</cp:lastModifiedBy>
  <cp:revision>830</cp:revision>
  <dcterms:created xsi:type="dcterms:W3CDTF">2017-10-29T09:01:12Z</dcterms:created>
  <dcterms:modified xsi:type="dcterms:W3CDTF">2026-02-17T10:54:05Z</dcterms:modified>
</cp:coreProperties>
</file>